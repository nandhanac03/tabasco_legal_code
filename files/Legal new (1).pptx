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57" r:id="rId3"/>
    <p:sldId id="259" r:id="rId4"/>
    <p:sldId id="262" r:id="rId5"/>
    <p:sldId id="263" r:id="rId6"/>
    <p:sldId id="264" r:id="rId7"/>
    <p:sldId id="292" r:id="rId8"/>
    <p:sldId id="276" r:id="rId9"/>
    <p:sldId id="301" r:id="rId10"/>
    <p:sldId id="267" r:id="rId11"/>
    <p:sldId id="258" r:id="rId12"/>
    <p:sldId id="281" r:id="rId13"/>
    <p:sldId id="260" r:id="rId14"/>
    <p:sldId id="261" r:id="rId15"/>
    <p:sldId id="302" r:id="rId16"/>
    <p:sldId id="265" r:id="rId17"/>
    <p:sldId id="269" r:id="rId18"/>
    <p:sldId id="282" r:id="rId19"/>
    <p:sldId id="270" r:id="rId20"/>
    <p:sldId id="278" r:id="rId21"/>
    <p:sldId id="303" r:id="rId22"/>
    <p:sldId id="277" r:id="rId23"/>
    <p:sldId id="280" r:id="rId24"/>
    <p:sldId id="283" r:id="rId25"/>
    <p:sldId id="284" r:id="rId26"/>
    <p:sldId id="285" r:id="rId27"/>
    <p:sldId id="286" r:id="rId28"/>
    <p:sldId id="287" r:id="rId29"/>
    <p:sldId id="289" r:id="rId30"/>
    <p:sldId id="304" r:id="rId31"/>
    <p:sldId id="291" r:id="rId32"/>
    <p:sldId id="294" r:id="rId33"/>
    <p:sldId id="306" r:id="rId34"/>
    <p:sldId id="307" r:id="rId35"/>
    <p:sldId id="293" r:id="rId36"/>
    <p:sldId id="309" r:id="rId37"/>
    <p:sldId id="308" r:id="rId38"/>
    <p:sldId id="310" r:id="rId39"/>
    <p:sldId id="312" r:id="rId40"/>
    <p:sldId id="313" r:id="rId41"/>
    <p:sldId id="314" r:id="rId42"/>
    <p:sldId id="311" r:id="rId43"/>
    <p:sldId id="315" r:id="rId44"/>
    <p:sldId id="316" r:id="rId45"/>
    <p:sldId id="317" r:id="rId46"/>
    <p:sldId id="296" r:id="rId47"/>
    <p:sldId id="297" r:id="rId48"/>
    <p:sldId id="298" r:id="rId49"/>
    <p:sldId id="337" r:id="rId50"/>
    <p:sldId id="299" r:id="rId51"/>
    <p:sldId id="318" r:id="rId52"/>
    <p:sldId id="319" r:id="rId53"/>
    <p:sldId id="320" r:id="rId54"/>
    <p:sldId id="321" r:id="rId55"/>
    <p:sldId id="324" r:id="rId56"/>
    <p:sldId id="322" r:id="rId57"/>
    <p:sldId id="327" r:id="rId58"/>
    <p:sldId id="328" r:id="rId59"/>
    <p:sldId id="338" r:id="rId60"/>
    <p:sldId id="340" r:id="rId61"/>
    <p:sldId id="341" r:id="rId62"/>
    <p:sldId id="325" r:id="rId63"/>
    <p:sldId id="330" r:id="rId64"/>
    <p:sldId id="332" r:id="rId65"/>
    <p:sldId id="331" r:id="rId66"/>
    <p:sldId id="335" r:id="rId67"/>
    <p:sldId id="333" r:id="rId68"/>
    <p:sldId id="334" r:id="rId69"/>
    <p:sldId id="336" r:id="rId70"/>
    <p:sldId id="329" r:id="rId71"/>
    <p:sldId id="342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351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D4B"/>
    <a:srgbClr val="E5A63B"/>
    <a:srgbClr val="E5A83F"/>
    <a:srgbClr val="F9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7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4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3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1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5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9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4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2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16333-9AEC-45B1-8D95-C00EC9F3B32A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2AF28-915D-40FF-8DEF-9CEEE98E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7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slide" Target="slid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slide" Target="slide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1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" Target="slide14.xml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17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slide" Target="slide20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slide" Target="slide2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2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19.png"/><Relationship Id="rId7" Type="http://schemas.openxmlformats.org/officeDocument/2006/relationships/slide" Target="slide2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image" Target="../media/image19.png"/><Relationship Id="rId7" Type="http://schemas.openxmlformats.org/officeDocument/2006/relationships/slide" Target="slide2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1.png"/><Relationship Id="rId5" Type="http://schemas.openxmlformats.org/officeDocument/2006/relationships/image" Target="../media/image22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13.png"/><Relationship Id="rId4" Type="http://schemas.openxmlformats.org/officeDocument/2006/relationships/slide" Target="slide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7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13.png"/><Relationship Id="rId4" Type="http://schemas.openxmlformats.org/officeDocument/2006/relationships/slide" Target="slide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3" Type="http://schemas.openxmlformats.org/officeDocument/2006/relationships/slide" Target="slide29.xml"/><Relationship Id="rId7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Relationship Id="rId9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Relationship Id="rId9" Type="http://schemas.openxmlformats.org/officeDocument/2006/relationships/slide" Target="slide4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Relationship Id="rId9" Type="http://schemas.openxmlformats.org/officeDocument/2006/relationships/slide" Target="slide4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slide" Target="slide29.xml"/><Relationship Id="rId7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13.png"/><Relationship Id="rId4" Type="http://schemas.openxmlformats.org/officeDocument/2006/relationships/slide" Target="slide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7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slide" Target="slide47.xml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slide" Target="slide48.xml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50.xml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slide" Target="slide29.xml"/><Relationship Id="rId4" Type="http://schemas.openxmlformats.org/officeDocument/2006/relationships/image" Target="../media/image16.png"/><Relationship Id="rId9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50.xml"/><Relationship Id="rId3" Type="http://schemas.openxmlformats.org/officeDocument/2006/relationships/slide" Target="slide2.xml"/><Relationship Id="rId7" Type="http://schemas.openxmlformats.org/officeDocument/2006/relationships/slide" Target="slide5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9.xml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8.xml"/><Relationship Id="rId4" Type="http://schemas.openxmlformats.org/officeDocument/2006/relationships/slide" Target="slide4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9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8.xml"/><Relationship Id="rId4" Type="http://schemas.openxmlformats.org/officeDocument/2006/relationships/slide" Target="slide4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Relationship Id="rId9" Type="http://schemas.openxmlformats.org/officeDocument/2006/relationships/image" Target="../media/image3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13.png"/><Relationship Id="rId4" Type="http://schemas.openxmlformats.org/officeDocument/2006/relationships/slide" Target="slide19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53.xml"/><Relationship Id="rId3" Type="http://schemas.openxmlformats.org/officeDocument/2006/relationships/slide" Target="slide2.xml"/><Relationship Id="rId7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7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slide" Target="slide40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53.xml"/><Relationship Id="rId3" Type="http://schemas.openxmlformats.org/officeDocument/2006/relationships/slide" Target="slide2.xml"/><Relationship Id="rId7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7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Relationship Id="rId9" Type="http://schemas.openxmlformats.org/officeDocument/2006/relationships/image" Target="../media/image3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image" Target="../media/image13.png"/><Relationship Id="rId4" Type="http://schemas.openxmlformats.org/officeDocument/2006/relationships/slide" Target="slide19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29.xml"/><Relationship Id="rId9" Type="http://schemas.openxmlformats.org/officeDocument/2006/relationships/image" Target="../media/image36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60596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702204" y="828756"/>
            <a:ext cx="1436137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Expense Report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15867" y="3700927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276" y="3121606"/>
            <a:ext cx="1815335" cy="93436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524677" y="3718737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TASK REMINDER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09165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438912"/>
            <a:ext cx="11703610" cy="6092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4931" y="1476550"/>
            <a:ext cx="15778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76" y="5998244"/>
            <a:ext cx="11522595" cy="4193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114977"/>
              </p:ext>
            </p:extLst>
          </p:nvPr>
        </p:nvGraphicFramePr>
        <p:xfrm>
          <a:off x="328976" y="1877563"/>
          <a:ext cx="11522593" cy="4006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8658">
                  <a:extLst>
                    <a:ext uri="{9D8B030D-6E8A-4147-A177-3AD203B41FA5}">
                      <a16:colId xmlns:a16="http://schemas.microsoft.com/office/drawing/2014/main" val="200039511"/>
                    </a:ext>
                  </a:extLst>
                </a:gridCol>
                <a:gridCol w="1264365">
                  <a:extLst>
                    <a:ext uri="{9D8B030D-6E8A-4147-A177-3AD203B41FA5}">
                      <a16:colId xmlns:a16="http://schemas.microsoft.com/office/drawing/2014/main" val="1834167736"/>
                    </a:ext>
                  </a:extLst>
                </a:gridCol>
                <a:gridCol w="2950188">
                  <a:extLst>
                    <a:ext uri="{9D8B030D-6E8A-4147-A177-3AD203B41FA5}">
                      <a16:colId xmlns:a16="http://schemas.microsoft.com/office/drawing/2014/main" val="2420487535"/>
                    </a:ext>
                  </a:extLst>
                </a:gridCol>
                <a:gridCol w="2566665">
                  <a:extLst>
                    <a:ext uri="{9D8B030D-6E8A-4147-A177-3AD203B41FA5}">
                      <a16:colId xmlns:a16="http://schemas.microsoft.com/office/drawing/2014/main" val="3789232007"/>
                    </a:ext>
                  </a:extLst>
                </a:gridCol>
                <a:gridCol w="1352871">
                  <a:extLst>
                    <a:ext uri="{9D8B030D-6E8A-4147-A177-3AD203B41FA5}">
                      <a16:colId xmlns:a16="http://schemas.microsoft.com/office/drawing/2014/main" val="792479338"/>
                    </a:ext>
                  </a:extLst>
                </a:gridCol>
                <a:gridCol w="1230651">
                  <a:extLst>
                    <a:ext uri="{9D8B030D-6E8A-4147-A177-3AD203B41FA5}">
                      <a16:colId xmlns:a16="http://schemas.microsoft.com/office/drawing/2014/main" val="1911993950"/>
                    </a:ext>
                  </a:extLst>
                </a:gridCol>
                <a:gridCol w="809195">
                  <a:extLst>
                    <a:ext uri="{9D8B030D-6E8A-4147-A177-3AD203B41FA5}">
                      <a16:colId xmlns:a16="http://schemas.microsoft.com/office/drawing/2014/main" val="3114081645"/>
                    </a:ext>
                  </a:extLst>
                </a:gridCol>
              </a:tblGrid>
              <a:tr h="58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S/NO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Marketing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Client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Email 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Contact Name and 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Status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093745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UST-3367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Pranita</a:t>
                      </a:r>
                      <a:r>
                        <a:rPr lang="en-US" sz="1050" u="none" strike="noStrike" dirty="0">
                          <a:effectLst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</a:rPr>
                        <a:t>Sunar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 err="1">
                          <a:effectLst/>
                        </a:rPr>
                        <a:t>Shahr</a:t>
                      </a:r>
                      <a:r>
                        <a:rPr lang="en-GB" sz="1050" u="none" strike="noStrike" dirty="0">
                          <a:effectLst/>
                        </a:rPr>
                        <a:t> Al </a:t>
                      </a:r>
                      <a:r>
                        <a:rPr lang="en-GB" sz="1050" u="none" strike="noStrike" dirty="0" err="1">
                          <a:effectLst/>
                        </a:rPr>
                        <a:t>Jadeed</a:t>
                      </a:r>
                      <a:r>
                        <a:rPr lang="en-GB" sz="1050" u="none" strike="noStrike" dirty="0">
                          <a:effectLst/>
                        </a:rPr>
                        <a:t> Technical Services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rsfonseka55@gmail.com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521541143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1702966351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CUST-3366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Sasidharan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Technitis Contracting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infi@technitis.ae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Close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82244651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CUST-3365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Anju John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Carbon General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aravind@carbongroupme.com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93310985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CUST-3364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Allied Contracting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info@alliedcondxb.com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92052958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CUST-3363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>
                          <a:effectLst/>
                        </a:rPr>
                        <a:t>Super Sign Decoration Metal Works LLC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atef@supersign.ae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561493970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54832677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CUST-3362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Capital Line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hr@capitalcontracting.ae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431188087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CUST-3361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Nascon Engineering Contracting L.L.C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anandujain@nasconengineering.com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7960931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CUST-3360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Al Basti &amp; Muktha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abmbilt@emirates.net.ae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507482391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373447656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CUST-3359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Premium Plus Electromechanical Works LLC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412570472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CUST-3358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Shaheena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Sai Kitchen &amp; wooden Safes Factory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a.hyderali@sai-group.ae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555614339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7403558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CUST-3357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Imdad Engineering &amp; Contracting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info@imdad-eng.com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3743996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507109"/>
            <a:ext cx="267537" cy="2216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842634"/>
            <a:ext cx="267537" cy="2216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147570"/>
            <a:ext cx="267537" cy="2216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452506"/>
            <a:ext cx="267537" cy="2216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749961"/>
            <a:ext cx="267537" cy="2216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085486"/>
            <a:ext cx="267537" cy="2216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390422"/>
            <a:ext cx="267537" cy="22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695358"/>
            <a:ext cx="267537" cy="2216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996013"/>
            <a:ext cx="267537" cy="2216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331538"/>
            <a:ext cx="267537" cy="22167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636474"/>
            <a:ext cx="267537" cy="2216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77" y="880641"/>
            <a:ext cx="11679229" cy="9318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77" y="462854"/>
            <a:ext cx="762106" cy="2191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1753" y="868758"/>
            <a:ext cx="1219370" cy="257211"/>
          </a:xfrm>
          <a:prstGeom prst="rect">
            <a:avLst/>
          </a:prstGeom>
        </p:spPr>
      </p:pic>
      <p:pic>
        <p:nvPicPr>
          <p:cNvPr id="24" name="Picture 23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304" y="592685"/>
            <a:ext cx="1000265" cy="3334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91150" y="6958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 Creation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10518850" y="487613"/>
            <a:ext cx="1665172" cy="5583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9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438912"/>
            <a:ext cx="11703610" cy="6092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4931" y="1476550"/>
            <a:ext cx="15778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76" y="5998244"/>
            <a:ext cx="11522595" cy="4193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8976" y="1877563"/>
          <a:ext cx="11522593" cy="4006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8658">
                  <a:extLst>
                    <a:ext uri="{9D8B030D-6E8A-4147-A177-3AD203B41FA5}">
                      <a16:colId xmlns:a16="http://schemas.microsoft.com/office/drawing/2014/main" val="200039511"/>
                    </a:ext>
                  </a:extLst>
                </a:gridCol>
                <a:gridCol w="1264365">
                  <a:extLst>
                    <a:ext uri="{9D8B030D-6E8A-4147-A177-3AD203B41FA5}">
                      <a16:colId xmlns:a16="http://schemas.microsoft.com/office/drawing/2014/main" val="1834167736"/>
                    </a:ext>
                  </a:extLst>
                </a:gridCol>
                <a:gridCol w="2950188">
                  <a:extLst>
                    <a:ext uri="{9D8B030D-6E8A-4147-A177-3AD203B41FA5}">
                      <a16:colId xmlns:a16="http://schemas.microsoft.com/office/drawing/2014/main" val="2420487535"/>
                    </a:ext>
                  </a:extLst>
                </a:gridCol>
                <a:gridCol w="2566665">
                  <a:extLst>
                    <a:ext uri="{9D8B030D-6E8A-4147-A177-3AD203B41FA5}">
                      <a16:colId xmlns:a16="http://schemas.microsoft.com/office/drawing/2014/main" val="3789232007"/>
                    </a:ext>
                  </a:extLst>
                </a:gridCol>
                <a:gridCol w="1352871">
                  <a:extLst>
                    <a:ext uri="{9D8B030D-6E8A-4147-A177-3AD203B41FA5}">
                      <a16:colId xmlns:a16="http://schemas.microsoft.com/office/drawing/2014/main" val="792479338"/>
                    </a:ext>
                  </a:extLst>
                </a:gridCol>
                <a:gridCol w="1230651">
                  <a:extLst>
                    <a:ext uri="{9D8B030D-6E8A-4147-A177-3AD203B41FA5}">
                      <a16:colId xmlns:a16="http://schemas.microsoft.com/office/drawing/2014/main" val="1911993950"/>
                    </a:ext>
                  </a:extLst>
                </a:gridCol>
                <a:gridCol w="809195">
                  <a:extLst>
                    <a:ext uri="{9D8B030D-6E8A-4147-A177-3AD203B41FA5}">
                      <a16:colId xmlns:a16="http://schemas.microsoft.com/office/drawing/2014/main" val="3114081645"/>
                    </a:ext>
                  </a:extLst>
                </a:gridCol>
              </a:tblGrid>
              <a:tr h="58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S/NO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Marketing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Client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Email 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Contact Name and 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Status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093745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UST-3367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Pranita</a:t>
                      </a:r>
                      <a:r>
                        <a:rPr lang="en-US" sz="1050" u="none" strike="noStrike" dirty="0">
                          <a:effectLst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</a:rPr>
                        <a:t>Sunar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Shahr Al Jadeed Technical Services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rsfonseka55@gmail.com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521541143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1702966351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CUST-3366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Sasidharan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Technitis Contracting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infi@technitis.ae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Close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82244651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CUST-3365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Anju John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Carbon General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aravind@carbongroupme.com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93310985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CUST-3364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Allied Contracting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info@alliedcondxb.com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92052958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CUST-3363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>
                          <a:effectLst/>
                        </a:rPr>
                        <a:t>Super Sign Decoration Metal Works LLC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atef@supersign.ae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561493970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54832677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CUST-3362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Capital Line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hr@capitalcontracting.ae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431188087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CUST-3361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Nascon Engineering Contracting L.L.C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anandujain@nasconengineering.com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7960931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CUST-3360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Al Basti &amp; Muktha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abmbilt@emirates.net.ae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507482391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373447656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CUST-3359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Premium Plus Electromechanical Works LLC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412570472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CUST-3358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Shaheena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Sai Kitchen &amp; wooden Safes Factory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a.hyderali@sai-group.ae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555614339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7403558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CUST-3357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Imdad Engineering &amp; Contracting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info@imdad-eng.com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3743996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507109"/>
            <a:ext cx="267537" cy="2216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842634"/>
            <a:ext cx="267537" cy="2216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147570"/>
            <a:ext cx="267537" cy="2216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452506"/>
            <a:ext cx="267537" cy="2216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749961"/>
            <a:ext cx="267537" cy="2216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085486"/>
            <a:ext cx="267537" cy="2216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390422"/>
            <a:ext cx="267537" cy="22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695358"/>
            <a:ext cx="267537" cy="2216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996013"/>
            <a:ext cx="267537" cy="2216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331538"/>
            <a:ext cx="267537" cy="22167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636474"/>
            <a:ext cx="267537" cy="2216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77" y="880641"/>
            <a:ext cx="11679229" cy="9318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77" y="462854"/>
            <a:ext cx="762106" cy="2191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1753" y="868758"/>
            <a:ext cx="1219370" cy="25721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1304" y="592685"/>
            <a:ext cx="1000265" cy="3334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08704" y="868757"/>
            <a:ext cx="6742600" cy="412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88526" y="1529105"/>
            <a:ext cx="4645753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rgbClr val="FF0000"/>
                </a:solidFill>
              </a:rPr>
              <a:t>Select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9524" y="1994973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rgbClr val="FF0000"/>
                </a:solidFill>
              </a:rPr>
              <a:t>Select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39267" y="1550853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Marketing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4283138" y="2033692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Client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5388525" y="2492771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rgbClr val="FF0000"/>
                </a:solidFill>
              </a:rPr>
              <a:t>Select Contact no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39267" y="2520922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Contact no</a:t>
            </a:r>
            <a:endParaRPr lang="en-US" sz="1200" dirty="0"/>
          </a:p>
        </p:txBody>
      </p:sp>
      <p:sp>
        <p:nvSpPr>
          <p:cNvPr id="20" name="Rectangle 19">
            <a:hlinkClick r:id="rId8" action="ppaction://hlinksldjump"/>
          </p:cNvPr>
          <p:cNvSpPr/>
          <p:nvPr/>
        </p:nvSpPr>
        <p:spPr>
          <a:xfrm>
            <a:off x="9009888" y="4470669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</a:t>
            </a:r>
            <a:endParaRPr lang="en-US" sz="1200" b="1" dirty="0"/>
          </a:p>
        </p:txBody>
      </p:sp>
      <p:sp>
        <p:nvSpPr>
          <p:cNvPr id="29" name="Rectangle 28"/>
          <p:cNvSpPr/>
          <p:nvPr/>
        </p:nvSpPr>
        <p:spPr>
          <a:xfrm>
            <a:off x="9009888" y="954985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Create Client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85991" y="2969880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6172" y="2922072"/>
            <a:ext cx="99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Total Outstanding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5385991" y="3489421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83138" y="3414483"/>
            <a:ext cx="99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Outstanding with cheque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250690" y="3883689"/>
            <a:ext cx="1196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Outstanding without cheque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5385991" y="3922648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113234" y="3498134"/>
            <a:ext cx="628520" cy="27746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/>
              <a:t>+ Upload Cheque</a:t>
            </a:r>
            <a:endParaRPr lang="en-US" sz="8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3238239" y="43303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 Creation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707717" y="4278486"/>
            <a:ext cx="2221906" cy="7564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8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438912"/>
            <a:ext cx="11703610" cy="6092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4931" y="1476550"/>
            <a:ext cx="15778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76" y="5998244"/>
            <a:ext cx="11522595" cy="4193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8976" y="1877563"/>
          <a:ext cx="11522593" cy="4006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8658">
                  <a:extLst>
                    <a:ext uri="{9D8B030D-6E8A-4147-A177-3AD203B41FA5}">
                      <a16:colId xmlns:a16="http://schemas.microsoft.com/office/drawing/2014/main" val="200039511"/>
                    </a:ext>
                  </a:extLst>
                </a:gridCol>
                <a:gridCol w="1264365">
                  <a:extLst>
                    <a:ext uri="{9D8B030D-6E8A-4147-A177-3AD203B41FA5}">
                      <a16:colId xmlns:a16="http://schemas.microsoft.com/office/drawing/2014/main" val="1834167736"/>
                    </a:ext>
                  </a:extLst>
                </a:gridCol>
                <a:gridCol w="2950188">
                  <a:extLst>
                    <a:ext uri="{9D8B030D-6E8A-4147-A177-3AD203B41FA5}">
                      <a16:colId xmlns:a16="http://schemas.microsoft.com/office/drawing/2014/main" val="2420487535"/>
                    </a:ext>
                  </a:extLst>
                </a:gridCol>
                <a:gridCol w="2566665">
                  <a:extLst>
                    <a:ext uri="{9D8B030D-6E8A-4147-A177-3AD203B41FA5}">
                      <a16:colId xmlns:a16="http://schemas.microsoft.com/office/drawing/2014/main" val="3789232007"/>
                    </a:ext>
                  </a:extLst>
                </a:gridCol>
                <a:gridCol w="1352871">
                  <a:extLst>
                    <a:ext uri="{9D8B030D-6E8A-4147-A177-3AD203B41FA5}">
                      <a16:colId xmlns:a16="http://schemas.microsoft.com/office/drawing/2014/main" val="792479338"/>
                    </a:ext>
                  </a:extLst>
                </a:gridCol>
                <a:gridCol w="1230651">
                  <a:extLst>
                    <a:ext uri="{9D8B030D-6E8A-4147-A177-3AD203B41FA5}">
                      <a16:colId xmlns:a16="http://schemas.microsoft.com/office/drawing/2014/main" val="1911993950"/>
                    </a:ext>
                  </a:extLst>
                </a:gridCol>
                <a:gridCol w="809195">
                  <a:extLst>
                    <a:ext uri="{9D8B030D-6E8A-4147-A177-3AD203B41FA5}">
                      <a16:colId xmlns:a16="http://schemas.microsoft.com/office/drawing/2014/main" val="3114081645"/>
                    </a:ext>
                  </a:extLst>
                </a:gridCol>
              </a:tblGrid>
              <a:tr h="58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S/NO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Marketing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Client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Email 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Contact Name and 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Status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093745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UST-3367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Pranita</a:t>
                      </a:r>
                      <a:r>
                        <a:rPr lang="en-US" sz="1050" u="none" strike="noStrike" dirty="0">
                          <a:effectLst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</a:rPr>
                        <a:t>Sunar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 err="1">
                          <a:effectLst/>
                        </a:rPr>
                        <a:t>Shahr</a:t>
                      </a:r>
                      <a:r>
                        <a:rPr lang="en-GB" sz="1050" u="none" strike="noStrike" dirty="0">
                          <a:effectLst/>
                        </a:rPr>
                        <a:t> Al </a:t>
                      </a:r>
                      <a:r>
                        <a:rPr lang="en-GB" sz="1050" u="none" strike="noStrike" dirty="0" err="1">
                          <a:effectLst/>
                        </a:rPr>
                        <a:t>Jadeed</a:t>
                      </a:r>
                      <a:r>
                        <a:rPr lang="en-GB" sz="1050" u="none" strike="noStrike" dirty="0">
                          <a:effectLst/>
                        </a:rPr>
                        <a:t> Technical Services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rsfonseka55@gmail.com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521541143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1702966351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CUST-3366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Sasidharan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Technitis Contracting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infi@technitis.ae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Close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82244651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CUST-3365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Anju John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Carbon General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aravind@carbongroupme.com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93310985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CUST-3364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Allied Contracting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info@alliedcondxb.com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92052958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CUST-3363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>
                          <a:effectLst/>
                        </a:rPr>
                        <a:t>Super Sign Decoration Metal Works LLC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atef@supersign.ae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561493970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54832677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CUST-3362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Capital Line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hr@capitalcontracting.ae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431188087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CUST-3361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Nascon Engineering Contracting L.L.C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anandujain@nasconengineering.com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7960931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CUST-3360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Al Basti &amp; Muktha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abmbilt@emirates.net.ae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507482391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373447656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CUST-3359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Premium Plus Electromechanical Works LLC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412570472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CUST-3358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Shaheena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Sai Kitchen &amp; wooden Safes Factory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a.hyderali@sai-group.ae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555614339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7403558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CUST-3357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Imdad Engineering &amp; Contracting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info@imdad-eng.com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3743996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507109"/>
            <a:ext cx="267537" cy="2216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842634"/>
            <a:ext cx="267537" cy="2216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147570"/>
            <a:ext cx="267537" cy="2216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452506"/>
            <a:ext cx="267537" cy="2216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749961"/>
            <a:ext cx="267537" cy="2216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085486"/>
            <a:ext cx="267537" cy="2216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390422"/>
            <a:ext cx="267537" cy="22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695358"/>
            <a:ext cx="267537" cy="2216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996013"/>
            <a:ext cx="267537" cy="2216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331538"/>
            <a:ext cx="267537" cy="22167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636474"/>
            <a:ext cx="267537" cy="2216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77" y="880641"/>
            <a:ext cx="11679229" cy="9318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77" y="462854"/>
            <a:ext cx="762106" cy="2191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1753" y="868758"/>
            <a:ext cx="1219370" cy="257211"/>
          </a:xfrm>
          <a:prstGeom prst="rect">
            <a:avLst/>
          </a:prstGeom>
        </p:spPr>
      </p:pic>
      <p:pic>
        <p:nvPicPr>
          <p:cNvPr id="24" name="Picture 23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304" y="592685"/>
            <a:ext cx="1000265" cy="3334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71525" y="5374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 Creation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10528419" y="462854"/>
            <a:ext cx="1479787" cy="5540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6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438912"/>
            <a:ext cx="11703610" cy="6092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4931" y="1476550"/>
            <a:ext cx="15778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76" y="5998244"/>
            <a:ext cx="11522595" cy="4193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8976" y="1877563"/>
          <a:ext cx="11522593" cy="4006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8658">
                  <a:extLst>
                    <a:ext uri="{9D8B030D-6E8A-4147-A177-3AD203B41FA5}">
                      <a16:colId xmlns:a16="http://schemas.microsoft.com/office/drawing/2014/main" val="200039511"/>
                    </a:ext>
                  </a:extLst>
                </a:gridCol>
                <a:gridCol w="1264365">
                  <a:extLst>
                    <a:ext uri="{9D8B030D-6E8A-4147-A177-3AD203B41FA5}">
                      <a16:colId xmlns:a16="http://schemas.microsoft.com/office/drawing/2014/main" val="1834167736"/>
                    </a:ext>
                  </a:extLst>
                </a:gridCol>
                <a:gridCol w="2950188">
                  <a:extLst>
                    <a:ext uri="{9D8B030D-6E8A-4147-A177-3AD203B41FA5}">
                      <a16:colId xmlns:a16="http://schemas.microsoft.com/office/drawing/2014/main" val="2420487535"/>
                    </a:ext>
                  </a:extLst>
                </a:gridCol>
                <a:gridCol w="2566665">
                  <a:extLst>
                    <a:ext uri="{9D8B030D-6E8A-4147-A177-3AD203B41FA5}">
                      <a16:colId xmlns:a16="http://schemas.microsoft.com/office/drawing/2014/main" val="3789232007"/>
                    </a:ext>
                  </a:extLst>
                </a:gridCol>
                <a:gridCol w="1352871">
                  <a:extLst>
                    <a:ext uri="{9D8B030D-6E8A-4147-A177-3AD203B41FA5}">
                      <a16:colId xmlns:a16="http://schemas.microsoft.com/office/drawing/2014/main" val="792479338"/>
                    </a:ext>
                  </a:extLst>
                </a:gridCol>
                <a:gridCol w="1230651">
                  <a:extLst>
                    <a:ext uri="{9D8B030D-6E8A-4147-A177-3AD203B41FA5}">
                      <a16:colId xmlns:a16="http://schemas.microsoft.com/office/drawing/2014/main" val="1911993950"/>
                    </a:ext>
                  </a:extLst>
                </a:gridCol>
                <a:gridCol w="809195">
                  <a:extLst>
                    <a:ext uri="{9D8B030D-6E8A-4147-A177-3AD203B41FA5}">
                      <a16:colId xmlns:a16="http://schemas.microsoft.com/office/drawing/2014/main" val="3114081645"/>
                    </a:ext>
                  </a:extLst>
                </a:gridCol>
              </a:tblGrid>
              <a:tr h="58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S/NO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Marketing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Client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Email 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Contact Name and 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Status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093745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UST-3367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Pranita</a:t>
                      </a:r>
                      <a:r>
                        <a:rPr lang="en-US" sz="1050" u="none" strike="noStrike" dirty="0">
                          <a:effectLst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</a:rPr>
                        <a:t>Sunar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Shahr Al Jadeed Technical Services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rsfonseka55@gmail.com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521541143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1702966351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CUST-3366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Sasidharan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Technitis Contracting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infi@technitis.ae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Close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82244651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CUST-3365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Anju John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Carbon General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aravind@carbongroupme.com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93310985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CUST-3364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Allied Contracting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info@alliedcondxb.com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92052958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CUST-3363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>
                          <a:effectLst/>
                        </a:rPr>
                        <a:t>Super Sign Decoration Metal Works LLC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atef@supersign.ae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561493970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54832677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CUST-3362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Capital Line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hr@capitalcontracting.ae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431188087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CUST-3361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Nascon Engineering Contracting L.L.C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anandujain@nasconengineering.com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7960931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CUST-3360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Al Basti &amp; Muktha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abmbilt@emirates.net.ae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507482391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373447656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CUST-3359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Premium Plus Electromechanical Works LLC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412570472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CUST-3358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Shaheena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Sai Kitchen &amp; wooden Safes Factory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a.hyderali@sai-group.ae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555614339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7403558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CUST-3357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Imdad Engineering &amp; Contracting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info@imdad-eng.com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3743996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507109"/>
            <a:ext cx="267537" cy="2216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842634"/>
            <a:ext cx="267537" cy="2216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147570"/>
            <a:ext cx="267537" cy="2216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452506"/>
            <a:ext cx="267537" cy="2216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749961"/>
            <a:ext cx="267537" cy="2216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085486"/>
            <a:ext cx="267537" cy="2216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390422"/>
            <a:ext cx="267537" cy="22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695358"/>
            <a:ext cx="267537" cy="2216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996013"/>
            <a:ext cx="267537" cy="2216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331538"/>
            <a:ext cx="267537" cy="22167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636474"/>
            <a:ext cx="267537" cy="2216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77" y="880641"/>
            <a:ext cx="11679229" cy="9318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77" y="462854"/>
            <a:ext cx="762106" cy="2191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1753" y="868758"/>
            <a:ext cx="1219370" cy="25721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1304" y="592685"/>
            <a:ext cx="1000265" cy="3334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08704" y="868757"/>
            <a:ext cx="6742600" cy="412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88526" y="1529105"/>
            <a:ext cx="4645753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rgbClr val="FF0000"/>
                </a:solidFill>
              </a:rPr>
              <a:t>Select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9524" y="1994973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rgbClr val="FF0000"/>
                </a:solidFill>
              </a:rPr>
              <a:t>Select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39267" y="1550853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Marketing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4283138" y="2033692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Client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5388525" y="2492771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rgbClr val="FF0000"/>
                </a:solidFill>
              </a:rPr>
              <a:t>Select Contact no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39267" y="2520922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Contact no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9009888" y="4470669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</a:t>
            </a:r>
            <a:endParaRPr lang="en-US" sz="1200" b="1" dirty="0"/>
          </a:p>
        </p:txBody>
      </p:sp>
      <p:sp>
        <p:nvSpPr>
          <p:cNvPr id="29" name="Rectangle 28">
            <a:hlinkClick r:id="rId8" action="ppaction://hlinksldjump"/>
          </p:cNvPr>
          <p:cNvSpPr/>
          <p:nvPr/>
        </p:nvSpPr>
        <p:spPr>
          <a:xfrm>
            <a:off x="9009888" y="954985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+Create Client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85991" y="2969880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6172" y="2922072"/>
            <a:ext cx="99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Total Outstanding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5385991" y="3489421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83138" y="3414483"/>
            <a:ext cx="99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Outstanding with cheque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250690" y="3883689"/>
            <a:ext cx="1196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Outstanding without cheque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5385991" y="3922648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113233" y="3472496"/>
            <a:ext cx="738071" cy="31129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/>
              <a:t>+ Upload Cheque</a:t>
            </a:r>
            <a:endParaRPr lang="en-US" sz="8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3511705" y="43303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 Creation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554340" y="681960"/>
            <a:ext cx="2427006" cy="8471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1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8390" y="385437"/>
            <a:ext cx="11703610" cy="6092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740585" y="7487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88478" y="748702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55" name="Rounded Rectangle 54"/>
          <p:cNvSpPr/>
          <p:nvPr/>
        </p:nvSpPr>
        <p:spPr>
          <a:xfrm>
            <a:off x="1740584" y="110914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8477" y="1109143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Marketing</a:t>
            </a:r>
            <a:endParaRPr lang="en-US"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1740585" y="143359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88478" y="1433591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Client</a:t>
            </a:r>
            <a:endParaRPr lang="en-US" sz="1000" dirty="0"/>
          </a:p>
        </p:txBody>
      </p:sp>
      <p:sp>
        <p:nvSpPr>
          <p:cNvPr id="59" name="Rounded Rectangle 58"/>
          <p:cNvSpPr/>
          <p:nvPr/>
        </p:nvSpPr>
        <p:spPr>
          <a:xfrm>
            <a:off x="1740584" y="179403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788477" y="1794032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Office Address</a:t>
            </a:r>
            <a:endParaRPr lang="en-US" sz="1000" dirty="0"/>
          </a:p>
        </p:txBody>
      </p:sp>
      <p:sp>
        <p:nvSpPr>
          <p:cNvPr id="67" name="Rounded Rectangle 66"/>
          <p:cNvSpPr/>
          <p:nvPr/>
        </p:nvSpPr>
        <p:spPr>
          <a:xfrm>
            <a:off x="1740584" y="214810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788477" y="2148101"/>
            <a:ext cx="1040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Contact Person</a:t>
            </a:r>
            <a:endParaRPr lang="en-US" sz="1000" dirty="0"/>
          </a:p>
        </p:txBody>
      </p:sp>
      <p:sp>
        <p:nvSpPr>
          <p:cNvPr id="69" name="Rounded Rectangle 68"/>
          <p:cNvSpPr/>
          <p:nvPr/>
        </p:nvSpPr>
        <p:spPr>
          <a:xfrm>
            <a:off x="1740584" y="250058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788477" y="250058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Designation</a:t>
            </a:r>
            <a:endParaRPr lang="en-US" sz="1000" dirty="0"/>
          </a:p>
        </p:txBody>
      </p:sp>
      <p:sp>
        <p:nvSpPr>
          <p:cNvPr id="71" name="Rounded Rectangle 70"/>
          <p:cNvSpPr/>
          <p:nvPr/>
        </p:nvSpPr>
        <p:spPr>
          <a:xfrm>
            <a:off x="1740583" y="286102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788476" y="286102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Mobile No</a:t>
            </a:r>
            <a:endParaRPr lang="en-US" sz="1000" dirty="0"/>
          </a:p>
        </p:txBody>
      </p:sp>
      <p:sp>
        <p:nvSpPr>
          <p:cNvPr id="73" name="Rounded Rectangle 72"/>
          <p:cNvSpPr/>
          <p:nvPr/>
        </p:nvSpPr>
        <p:spPr>
          <a:xfrm>
            <a:off x="1740584" y="31854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88477" y="318547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Email Id</a:t>
            </a:r>
            <a:endParaRPr lang="en-US" sz="1000" dirty="0"/>
          </a:p>
        </p:txBody>
      </p:sp>
      <p:sp>
        <p:nvSpPr>
          <p:cNvPr id="75" name="Rounded Rectangle 74"/>
          <p:cNvSpPr/>
          <p:nvPr/>
        </p:nvSpPr>
        <p:spPr>
          <a:xfrm>
            <a:off x="1740583" y="354591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88476" y="354591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Land line no</a:t>
            </a:r>
            <a:endParaRPr lang="en-US" sz="1000" dirty="0"/>
          </a:p>
        </p:txBody>
      </p:sp>
      <p:sp>
        <p:nvSpPr>
          <p:cNvPr id="77" name="Rounded Rectangle 76"/>
          <p:cNvSpPr/>
          <p:nvPr/>
        </p:nvSpPr>
        <p:spPr>
          <a:xfrm>
            <a:off x="1740583" y="389998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88476" y="389998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Mobile No</a:t>
            </a:r>
            <a:endParaRPr lang="en-US" sz="1000" dirty="0"/>
          </a:p>
        </p:txBody>
      </p:sp>
      <p:sp>
        <p:nvSpPr>
          <p:cNvPr id="82" name="Rounded Rectangle 81"/>
          <p:cNvSpPr/>
          <p:nvPr/>
        </p:nvSpPr>
        <p:spPr>
          <a:xfrm>
            <a:off x="1740583" y="425247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788476" y="425247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Po Box</a:t>
            </a:r>
            <a:endParaRPr lang="en-US" sz="1000" dirty="0"/>
          </a:p>
        </p:txBody>
      </p:sp>
      <p:sp>
        <p:nvSpPr>
          <p:cNvPr id="84" name="Rounded Rectangle 83"/>
          <p:cNvSpPr/>
          <p:nvPr/>
        </p:nvSpPr>
        <p:spPr>
          <a:xfrm>
            <a:off x="1740583" y="460495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788476" y="460495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Fax No</a:t>
            </a:r>
            <a:endParaRPr lang="en-US" sz="1000" dirty="0"/>
          </a:p>
        </p:txBody>
      </p:sp>
      <p:sp>
        <p:nvSpPr>
          <p:cNvPr id="86" name="Rounded Rectangle 85"/>
          <p:cNvSpPr/>
          <p:nvPr/>
        </p:nvSpPr>
        <p:spPr>
          <a:xfrm>
            <a:off x="1740583" y="49574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788476" y="49574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Web site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788476" y="5363593"/>
            <a:ext cx="952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Upload Visiting Card</a:t>
            </a:r>
            <a:endParaRPr lang="en-US" sz="1000" dirty="0"/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91" y="5458981"/>
            <a:ext cx="1892397" cy="266714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46" y="5446484"/>
            <a:ext cx="775304" cy="605115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5808382" y="806678"/>
            <a:ext cx="6174557" cy="1468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004530"/>
              </p:ext>
            </p:extLst>
          </p:nvPr>
        </p:nvGraphicFramePr>
        <p:xfrm>
          <a:off x="5850804" y="1244362"/>
          <a:ext cx="5885394" cy="1017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54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5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5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5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pic>
        <p:nvPicPr>
          <p:cNvPr id="93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9934" y="885813"/>
            <a:ext cx="971600" cy="257933"/>
          </a:xfrm>
          <a:prstGeom prst="rect">
            <a:avLst/>
          </a:prstGeom>
        </p:spPr>
      </p:pic>
      <p:pic>
        <p:nvPicPr>
          <p:cNvPr id="94" name="Picture 93" descr="forms - &lt;strong&gt;Submit&lt;/strong&gt; and Reset &lt;strong&gt;button&lt;/strong&gt;, what's the best order? - User ...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905" y="5676792"/>
            <a:ext cx="1693034" cy="374807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5808381" y="2699270"/>
            <a:ext cx="6174557" cy="1468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804" y="2716647"/>
            <a:ext cx="276264" cy="247685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59956" y="269950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OUT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E6AD4B"/>
                </a:solidFill>
              </a:rPr>
              <a:t>STANDING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056861" y="2957114"/>
            <a:ext cx="4727242" cy="225046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16954" y="2872930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101" name="TextBox 100"/>
          <p:cNvSpPr txBox="1"/>
          <p:nvPr/>
        </p:nvSpPr>
        <p:spPr>
          <a:xfrm>
            <a:off x="5916954" y="3309402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102" name="TextBox 101"/>
          <p:cNvSpPr txBox="1"/>
          <p:nvPr/>
        </p:nvSpPr>
        <p:spPr>
          <a:xfrm>
            <a:off x="5916954" y="3750551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104" name="Rectangle 103"/>
          <p:cNvSpPr/>
          <p:nvPr/>
        </p:nvSpPr>
        <p:spPr>
          <a:xfrm>
            <a:off x="5808381" y="4250162"/>
            <a:ext cx="738071" cy="31129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/>
              <a:t>+ Upload Cheque</a:t>
            </a:r>
            <a:endParaRPr lang="en-US" sz="800" b="1" dirty="0"/>
          </a:p>
        </p:txBody>
      </p:sp>
      <p:sp>
        <p:nvSpPr>
          <p:cNvPr id="105" name="Rectangle 104"/>
          <p:cNvSpPr/>
          <p:nvPr/>
        </p:nvSpPr>
        <p:spPr>
          <a:xfrm>
            <a:off x="7056861" y="3335258"/>
            <a:ext cx="4727242" cy="225046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7056861" y="3764701"/>
            <a:ext cx="4727242" cy="225046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808381" y="4615736"/>
            <a:ext cx="6174558" cy="9193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735094"/>
              </p:ext>
            </p:extLst>
          </p:nvPr>
        </p:nvGraphicFramePr>
        <p:xfrm>
          <a:off x="5852055" y="4628172"/>
          <a:ext cx="6087207" cy="830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5844">
                  <a:extLst>
                    <a:ext uri="{9D8B030D-6E8A-4147-A177-3AD203B41FA5}">
                      <a16:colId xmlns:a16="http://schemas.microsoft.com/office/drawing/2014/main" val="2431379919"/>
                    </a:ext>
                  </a:extLst>
                </a:gridCol>
                <a:gridCol w="3638747">
                  <a:extLst>
                    <a:ext uri="{9D8B030D-6E8A-4147-A177-3AD203B41FA5}">
                      <a16:colId xmlns:a16="http://schemas.microsoft.com/office/drawing/2014/main" val="3907942742"/>
                    </a:ext>
                  </a:extLst>
                </a:gridCol>
                <a:gridCol w="1072616">
                  <a:extLst>
                    <a:ext uri="{9D8B030D-6E8A-4147-A177-3AD203B41FA5}">
                      <a16:colId xmlns:a16="http://schemas.microsoft.com/office/drawing/2014/main" val="1050531276"/>
                    </a:ext>
                  </a:extLst>
                </a:gridCol>
              </a:tblGrid>
              <a:tr h="2077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Cheque date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Amount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Documents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5127873"/>
                  </a:ext>
                </a:extLst>
              </a:tr>
              <a:tr h="207702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83446451"/>
                  </a:ext>
                </a:extLst>
              </a:tr>
              <a:tr h="207702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869325"/>
                  </a:ext>
                </a:extLst>
              </a:tr>
              <a:tr h="207702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14347732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3742442" y="0"/>
            <a:ext cx="459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 Creation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88390" y="375656"/>
            <a:ext cx="11703610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hlinkClick r:id="rId8" action="ppaction://hlinksldjump"/>
          </p:cNvPr>
          <p:cNvSpPr txBox="1"/>
          <p:nvPr/>
        </p:nvSpPr>
        <p:spPr>
          <a:xfrm>
            <a:off x="3133126" y="388018"/>
            <a:ext cx="24148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sp>
        <p:nvSpPr>
          <p:cNvPr id="54" name="TextBox 53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2" name="Oval 1"/>
          <p:cNvSpPr/>
          <p:nvPr/>
        </p:nvSpPr>
        <p:spPr>
          <a:xfrm>
            <a:off x="2910980" y="209725"/>
            <a:ext cx="1182848" cy="5969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0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76" y="996431"/>
            <a:ext cx="809738" cy="314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04594" y="4235281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Documents Type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51963" y="1280147"/>
            <a:ext cx="3591611" cy="26934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551962" y="1295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Trading License</a:t>
            </a:r>
            <a:endParaRPr lang="en-US" sz="800" dirty="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551961" y="153921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Agreement</a:t>
            </a:r>
            <a:endParaRPr lang="en-US" sz="800" dirty="0">
              <a:latin typeface="+mj-l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51961" y="179189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LPO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04593" y="4496210"/>
          <a:ext cx="11546978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789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392189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Document </a:t>
                      </a:r>
                      <a:r>
                        <a:rPr lang="en-US" sz="900" b="1" u="none" strike="noStrike" dirty="0">
                          <a:effectLst/>
                        </a:rPr>
                        <a:t>Type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Attachment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Trading License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Agreement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295" y="4866435"/>
            <a:ext cx="261450" cy="2132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295" y="5193565"/>
            <a:ext cx="261450" cy="21328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551961" y="204450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invoice</a:t>
            </a:r>
            <a:endParaRPr lang="en-US" sz="800" dirty="0">
              <a:latin typeface="+mj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551957" y="253341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Owners Documents</a:t>
            </a:r>
            <a:endParaRPr lang="en-US" sz="800" dirty="0">
              <a:latin typeface="+mj-l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551959" y="228980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Time Sheet</a:t>
            </a:r>
            <a:endParaRPr lang="en-US" sz="800" dirty="0">
              <a:latin typeface="+mj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551957" y="27860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err="1">
                <a:latin typeface="+mj-lt"/>
              </a:rPr>
              <a:t>Cheque</a:t>
            </a:r>
            <a:r>
              <a:rPr lang="en-US" sz="800" dirty="0">
                <a:latin typeface="+mj-lt"/>
              </a:rPr>
              <a:t> </a:t>
            </a:r>
            <a:r>
              <a:rPr lang="en-US" sz="800" dirty="0" err="1">
                <a:latin typeface="+mj-lt"/>
              </a:rPr>
              <a:t>Copys</a:t>
            </a:r>
            <a:endParaRPr lang="en-US" sz="800" dirty="0">
              <a:latin typeface="+mj-l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551957" y="303088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err="1" smtClean="0">
                <a:latin typeface="+mj-lt"/>
              </a:rPr>
              <a:t>Cheque</a:t>
            </a:r>
            <a:r>
              <a:rPr lang="en-US" sz="800" dirty="0" smtClean="0">
                <a:latin typeface="+mj-lt"/>
              </a:rPr>
              <a:t> Bounce Report</a:t>
            </a:r>
            <a:endParaRPr lang="en-US" sz="800" dirty="0">
              <a:latin typeface="+mj-lt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551956" y="32757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Email Conversation</a:t>
            </a:r>
            <a:endParaRPr lang="en-US" sz="800" dirty="0">
              <a:latin typeface="+mj-lt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551956" y="3520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Payment Certificates</a:t>
            </a:r>
            <a:endParaRPr lang="en-US" sz="800" dirty="0">
              <a:latin typeface="+mj-l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551956" y="375550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Other Documents</a:t>
            </a:r>
            <a:endParaRPr lang="en-US" sz="800" dirty="0">
              <a:latin typeface="+mj-lt"/>
            </a:endParaRPr>
          </a:p>
        </p:txBody>
      </p:sp>
      <p:sp>
        <p:nvSpPr>
          <p:cNvPr id="2" name="Oval 1"/>
          <p:cNvSpPr/>
          <p:nvPr/>
        </p:nvSpPr>
        <p:spPr>
          <a:xfrm>
            <a:off x="9688573" y="5817218"/>
            <a:ext cx="1468073" cy="6843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8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438912"/>
            <a:ext cx="11703610" cy="6092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4931" y="1476550"/>
            <a:ext cx="15778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76" y="5998244"/>
            <a:ext cx="11522595" cy="4193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8976" y="1877563"/>
          <a:ext cx="11522593" cy="4006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8658">
                  <a:extLst>
                    <a:ext uri="{9D8B030D-6E8A-4147-A177-3AD203B41FA5}">
                      <a16:colId xmlns:a16="http://schemas.microsoft.com/office/drawing/2014/main" val="200039511"/>
                    </a:ext>
                  </a:extLst>
                </a:gridCol>
                <a:gridCol w="1264365">
                  <a:extLst>
                    <a:ext uri="{9D8B030D-6E8A-4147-A177-3AD203B41FA5}">
                      <a16:colId xmlns:a16="http://schemas.microsoft.com/office/drawing/2014/main" val="1834167736"/>
                    </a:ext>
                  </a:extLst>
                </a:gridCol>
                <a:gridCol w="2950188">
                  <a:extLst>
                    <a:ext uri="{9D8B030D-6E8A-4147-A177-3AD203B41FA5}">
                      <a16:colId xmlns:a16="http://schemas.microsoft.com/office/drawing/2014/main" val="2420487535"/>
                    </a:ext>
                  </a:extLst>
                </a:gridCol>
                <a:gridCol w="2566665">
                  <a:extLst>
                    <a:ext uri="{9D8B030D-6E8A-4147-A177-3AD203B41FA5}">
                      <a16:colId xmlns:a16="http://schemas.microsoft.com/office/drawing/2014/main" val="3789232007"/>
                    </a:ext>
                  </a:extLst>
                </a:gridCol>
                <a:gridCol w="1352871">
                  <a:extLst>
                    <a:ext uri="{9D8B030D-6E8A-4147-A177-3AD203B41FA5}">
                      <a16:colId xmlns:a16="http://schemas.microsoft.com/office/drawing/2014/main" val="792479338"/>
                    </a:ext>
                  </a:extLst>
                </a:gridCol>
                <a:gridCol w="1230651">
                  <a:extLst>
                    <a:ext uri="{9D8B030D-6E8A-4147-A177-3AD203B41FA5}">
                      <a16:colId xmlns:a16="http://schemas.microsoft.com/office/drawing/2014/main" val="1911993950"/>
                    </a:ext>
                  </a:extLst>
                </a:gridCol>
                <a:gridCol w="809195">
                  <a:extLst>
                    <a:ext uri="{9D8B030D-6E8A-4147-A177-3AD203B41FA5}">
                      <a16:colId xmlns:a16="http://schemas.microsoft.com/office/drawing/2014/main" val="3114081645"/>
                    </a:ext>
                  </a:extLst>
                </a:gridCol>
              </a:tblGrid>
              <a:tr h="58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S/NO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Marketing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Client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Email 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Contact Name and no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Status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093745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UST-3367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Pranita</a:t>
                      </a:r>
                      <a:r>
                        <a:rPr lang="en-US" sz="1050" u="none" strike="noStrike" dirty="0">
                          <a:effectLst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</a:rPr>
                        <a:t>Sunar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 err="1">
                          <a:effectLst/>
                        </a:rPr>
                        <a:t>Shahr</a:t>
                      </a:r>
                      <a:r>
                        <a:rPr lang="en-GB" sz="1050" u="none" strike="noStrike" dirty="0">
                          <a:effectLst/>
                        </a:rPr>
                        <a:t> Al </a:t>
                      </a:r>
                      <a:r>
                        <a:rPr lang="en-GB" sz="1050" u="none" strike="noStrike" dirty="0" err="1">
                          <a:effectLst/>
                        </a:rPr>
                        <a:t>Jadeed</a:t>
                      </a:r>
                      <a:r>
                        <a:rPr lang="en-GB" sz="1050" u="none" strike="noStrike" dirty="0">
                          <a:effectLst/>
                        </a:rPr>
                        <a:t> Technical Services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rsfonseka55@gmail.com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521541143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1702966351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CUST-3366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 err="1">
                          <a:effectLst/>
                        </a:rPr>
                        <a:t>Sasidharan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Technitis Contracting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infi@technitis.ae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Close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82244651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CUST-3365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Anju John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Carbon General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aravind@carbongroupme.com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93310985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CUST-3364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Allied Contracting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info@alliedcondxb.com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92052958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CUST-3363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 dirty="0">
                          <a:effectLst/>
                        </a:rPr>
                        <a:t>Super Sign Decoration Metal Works LLC</a:t>
                      </a:r>
                      <a:endParaRPr lang="en-GB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atef@supersign.ae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561493970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54832677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CUST-3362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Capital Line Contracting LLC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hr@capitalcontracting.ae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431188087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CUST-3361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Nascon Engineering Contracting L.L.C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anandujain@nasconengineering.com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779609313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CUST-3360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Al Basti &amp; Muktha LLC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abmbilt@emirates.net.ae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507482391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2373447656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CUST-3359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Pranita Sunar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Premium Plus Electromechanical Works LLC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4125704729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CUST-3358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Shaheena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50" u="none" strike="noStrike">
                          <a:effectLst/>
                        </a:rPr>
                        <a:t>Sai Kitchen &amp; wooden Safes Factory</a:t>
                      </a:r>
                      <a:endParaRPr lang="en-GB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a.hyderali@sai-group.ae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555614339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Open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>
                          <a:effectLst/>
                        </a:rPr>
                        <a:t> </a:t>
                      </a:r>
                      <a:endParaRPr lang="en-AE" sz="1050" b="0" i="0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74035585"/>
                  </a:ext>
                </a:extLst>
              </a:tr>
              <a:tr h="311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CUST-3357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Sasidharan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Imdad Engineering &amp; Contracting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info@imdad-eng.com</a:t>
                      </a:r>
                      <a:endParaRPr lang="en-US" sz="1050" b="0" i="0" u="none" strike="noStrike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Open</a:t>
                      </a:r>
                      <a:endParaRPr lang="en-US" sz="105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E" sz="1050" u="none" strike="noStrike" dirty="0">
                          <a:effectLst/>
                        </a:rPr>
                        <a:t> </a:t>
                      </a:r>
                      <a:endParaRPr lang="en-AE" sz="1050" b="0" i="0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85725" marR="9525" marT="9525" marB="0"/>
                </a:tc>
                <a:extLst>
                  <a:ext uri="{0D108BD9-81ED-4DB2-BD59-A6C34878D82A}">
                    <a16:rowId xmlns:a16="http://schemas.microsoft.com/office/drawing/2014/main" val="33743996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507109"/>
            <a:ext cx="267537" cy="2216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2842634"/>
            <a:ext cx="267537" cy="2216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147570"/>
            <a:ext cx="267537" cy="2216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452506"/>
            <a:ext cx="267537" cy="2216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3749961"/>
            <a:ext cx="267537" cy="2216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085486"/>
            <a:ext cx="267537" cy="2216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390422"/>
            <a:ext cx="267537" cy="22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695358"/>
            <a:ext cx="267537" cy="2216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4996013"/>
            <a:ext cx="267537" cy="2216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331538"/>
            <a:ext cx="267537" cy="22167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438" y="5636474"/>
            <a:ext cx="267537" cy="2216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77" y="880641"/>
            <a:ext cx="11679229" cy="9318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77" y="462854"/>
            <a:ext cx="762106" cy="2191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1753" y="868758"/>
            <a:ext cx="1219370" cy="257211"/>
          </a:xfrm>
          <a:prstGeom prst="rect">
            <a:avLst/>
          </a:prstGeom>
        </p:spPr>
      </p:pic>
      <p:pic>
        <p:nvPicPr>
          <p:cNvPr id="24" name="Picture 23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304" y="592685"/>
            <a:ext cx="1000265" cy="3334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Client Creation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70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60596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2942067" y="862312"/>
            <a:ext cx="1436137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Expense Report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463534"/>
              </p:ext>
            </p:extLst>
          </p:nvPr>
        </p:nvGraphicFramePr>
        <p:xfrm>
          <a:off x="368135" y="2626834"/>
          <a:ext cx="11435936" cy="1662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5013">
                  <a:extLst>
                    <a:ext uri="{9D8B030D-6E8A-4147-A177-3AD203B41FA5}">
                      <a16:colId xmlns:a16="http://schemas.microsoft.com/office/drawing/2014/main" val="4255928482"/>
                    </a:ext>
                  </a:extLst>
                </a:gridCol>
                <a:gridCol w="2041208">
                  <a:extLst>
                    <a:ext uri="{9D8B030D-6E8A-4147-A177-3AD203B41FA5}">
                      <a16:colId xmlns:a16="http://schemas.microsoft.com/office/drawing/2014/main" val="3998093190"/>
                    </a:ext>
                  </a:extLst>
                </a:gridCol>
                <a:gridCol w="2054464">
                  <a:extLst>
                    <a:ext uri="{9D8B030D-6E8A-4147-A177-3AD203B41FA5}">
                      <a16:colId xmlns:a16="http://schemas.microsoft.com/office/drawing/2014/main" val="3711394776"/>
                    </a:ext>
                  </a:extLst>
                </a:gridCol>
                <a:gridCol w="1272441">
                  <a:extLst>
                    <a:ext uri="{9D8B030D-6E8A-4147-A177-3AD203B41FA5}">
                      <a16:colId xmlns:a16="http://schemas.microsoft.com/office/drawing/2014/main" val="1934743498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1801638381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1420135979"/>
                    </a:ext>
                  </a:extLst>
                </a:gridCol>
              </a:tblGrid>
              <a:tr h="36518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Name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u="none" strike="noStrike" dirty="0">
                          <a:effectLst/>
                        </a:rPr>
                        <a:t>Contact No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Email ID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Login Credential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153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Shareable Link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153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u="none" strike="noStrike" dirty="0">
                          <a:effectLst/>
                        </a:rPr>
                        <a:t>Lock/Unlock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21318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AMIR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055 32 51321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foustinmichel@yahoo.com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619588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DINESH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055 621 51 32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alsahilalgharbi@gmail.com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90333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53688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05094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441304"/>
            <a:ext cx="400106" cy="3048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050946"/>
            <a:ext cx="400106" cy="3048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441303"/>
            <a:ext cx="400106" cy="3048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022367"/>
            <a:ext cx="543001" cy="3334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3893" y="3458106"/>
            <a:ext cx="571580" cy="32389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6894" y="2191095"/>
            <a:ext cx="362001" cy="33342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3" name="Rectangle 22">
            <a:hlinkClick r:id="rId9" action="ppaction://hlinksldjump"/>
          </p:cNvPr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Third Party</a:t>
            </a:r>
            <a:endParaRPr lang="en-US" sz="1200" b="1" dirty="0"/>
          </a:p>
        </p:txBody>
      </p:sp>
      <p:sp>
        <p:nvSpPr>
          <p:cNvPr id="2" name="Oval 1"/>
          <p:cNvSpPr/>
          <p:nvPr/>
        </p:nvSpPr>
        <p:spPr>
          <a:xfrm>
            <a:off x="9831796" y="336824"/>
            <a:ext cx="2080470" cy="7793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7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Third Party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JALAAL</a:t>
            </a:r>
            <a:endParaRPr lang="en-US" sz="8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Name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Address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u="none" strike="noStrike" smtClean="0">
                <a:effectLst/>
              </a:rPr>
              <a:t>055 621 51 32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Contact No</a:t>
            </a:r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52919" y="2701832"/>
            <a:ext cx="952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Upload Visiting Card</a:t>
            </a:r>
            <a:endParaRPr lang="en-US" sz="10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34" y="2797220"/>
            <a:ext cx="1892397" cy="26671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89" y="2784723"/>
            <a:ext cx="775304" cy="605115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439266" y="1033929"/>
            <a:ext cx="6174557" cy="2582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5439266" y="3997915"/>
            <a:ext cx="6174557" cy="1591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439266" y="972372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Bank Account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976589"/>
              </p:ext>
            </p:extLst>
          </p:nvPr>
        </p:nvGraphicFramePr>
        <p:xfrm>
          <a:off x="5481688" y="4435599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439266" y="3904398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818" y="4077050"/>
            <a:ext cx="971600" cy="27941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516359" y="132196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564252" y="132196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Type</a:t>
            </a:r>
            <a:endParaRPr lang="en-US" sz="1000" dirty="0"/>
          </a:p>
        </p:txBody>
      </p:sp>
      <p:sp>
        <p:nvSpPr>
          <p:cNvPr id="46" name="Rounded Rectangle 45"/>
          <p:cNvSpPr/>
          <p:nvPr/>
        </p:nvSpPr>
        <p:spPr>
          <a:xfrm>
            <a:off x="6516359" y="16383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564252" y="16383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name</a:t>
            </a:r>
            <a:endParaRPr lang="en-US" sz="10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9466" y="4487200"/>
            <a:ext cx="268988" cy="1050333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16359" y="194903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564252" y="194903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Bank name</a:t>
            </a:r>
            <a:endParaRPr lang="en-US" sz="1000" dirty="0"/>
          </a:p>
        </p:txBody>
      </p:sp>
      <p:sp>
        <p:nvSpPr>
          <p:cNvPr id="51" name="Rounded Rectangle 50"/>
          <p:cNvSpPr/>
          <p:nvPr/>
        </p:nvSpPr>
        <p:spPr>
          <a:xfrm>
            <a:off x="6516359" y="22604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564252" y="226042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IBAN  No</a:t>
            </a:r>
            <a:endParaRPr lang="en-US"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6516359" y="257679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564252" y="257679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No</a:t>
            </a:r>
            <a:endParaRPr lang="en-US" sz="1000" dirty="0"/>
          </a:p>
        </p:txBody>
      </p:sp>
      <p:sp>
        <p:nvSpPr>
          <p:cNvPr id="55" name="Rounded Rectangle 54"/>
          <p:cNvSpPr/>
          <p:nvPr/>
        </p:nvSpPr>
        <p:spPr>
          <a:xfrm>
            <a:off x="6516359" y="288748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564252" y="288748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Bank Country</a:t>
            </a:r>
            <a:endParaRPr lang="en-US"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6516359" y="32272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564252" y="322722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Swift Code</a:t>
            </a:r>
            <a:endParaRPr lang="en-US" sz="1000" dirty="0"/>
          </a:p>
        </p:txBody>
      </p:sp>
      <p:pic>
        <p:nvPicPr>
          <p:cNvPr id="63" name="Picture 62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u="none" strike="noStrike" dirty="0" smtClean="0">
                <a:effectLst/>
              </a:rPr>
              <a:t>cvtcuae@gmail.com</a:t>
            </a:r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Email</a:t>
            </a:r>
            <a:endParaRPr lang="en-US" sz="1000" dirty="0"/>
          </a:p>
        </p:txBody>
      </p:sp>
      <p:sp>
        <p:nvSpPr>
          <p:cNvPr id="68" name="Rectangle 67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304594" y="397147"/>
            <a:ext cx="2644740" cy="2739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>
            <a:hlinkClick r:id="rId7" action="ppaction://hlinksldjump"/>
          </p:cNvPr>
          <p:cNvSpPr/>
          <p:nvPr/>
        </p:nvSpPr>
        <p:spPr>
          <a:xfrm>
            <a:off x="2949334" y="385894"/>
            <a:ext cx="2644740" cy="28783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sp>
        <p:nvSpPr>
          <p:cNvPr id="59" name="Oval 58"/>
          <p:cNvSpPr/>
          <p:nvPr/>
        </p:nvSpPr>
        <p:spPr>
          <a:xfrm>
            <a:off x="2624372" y="317352"/>
            <a:ext cx="1656723" cy="5326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9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Third Party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76" y="996431"/>
            <a:ext cx="809738" cy="314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04595" y="3011648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Documents Type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51963" y="1280149"/>
            <a:ext cx="3591611" cy="766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551962" y="1295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Trading License</a:t>
            </a:r>
            <a:endParaRPr lang="en-US" sz="800" dirty="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551961" y="153921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Agreement</a:t>
            </a:r>
            <a:endParaRPr lang="en-US" sz="800" dirty="0">
              <a:latin typeface="+mj-l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51961" y="178480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Other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9951"/>
              </p:ext>
            </p:extLst>
          </p:nvPr>
        </p:nvGraphicFramePr>
        <p:xfrm>
          <a:off x="304594" y="3272577"/>
          <a:ext cx="11546978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789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392189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Document </a:t>
                      </a:r>
                      <a:r>
                        <a:rPr lang="en-US" sz="900" b="1" u="none" strike="noStrike" dirty="0">
                          <a:effectLst/>
                        </a:rPr>
                        <a:t>Type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Attachment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Trading License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Agreement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296" y="3642802"/>
            <a:ext cx="261450" cy="2132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296" y="3969932"/>
            <a:ext cx="261450" cy="213288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9610914" y="5752632"/>
            <a:ext cx="2239860" cy="7969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691595"/>
              </p:ext>
            </p:extLst>
          </p:nvPr>
        </p:nvGraphicFramePr>
        <p:xfrm>
          <a:off x="368135" y="2626834"/>
          <a:ext cx="11435936" cy="1662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5013">
                  <a:extLst>
                    <a:ext uri="{9D8B030D-6E8A-4147-A177-3AD203B41FA5}">
                      <a16:colId xmlns:a16="http://schemas.microsoft.com/office/drawing/2014/main" val="4255928482"/>
                    </a:ext>
                  </a:extLst>
                </a:gridCol>
                <a:gridCol w="2041208">
                  <a:extLst>
                    <a:ext uri="{9D8B030D-6E8A-4147-A177-3AD203B41FA5}">
                      <a16:colId xmlns:a16="http://schemas.microsoft.com/office/drawing/2014/main" val="3998093190"/>
                    </a:ext>
                  </a:extLst>
                </a:gridCol>
                <a:gridCol w="2054464">
                  <a:extLst>
                    <a:ext uri="{9D8B030D-6E8A-4147-A177-3AD203B41FA5}">
                      <a16:colId xmlns:a16="http://schemas.microsoft.com/office/drawing/2014/main" val="3711394776"/>
                    </a:ext>
                  </a:extLst>
                </a:gridCol>
                <a:gridCol w="1272441">
                  <a:extLst>
                    <a:ext uri="{9D8B030D-6E8A-4147-A177-3AD203B41FA5}">
                      <a16:colId xmlns:a16="http://schemas.microsoft.com/office/drawing/2014/main" val="1934743498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1801638381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1420135979"/>
                    </a:ext>
                  </a:extLst>
                </a:gridCol>
              </a:tblGrid>
              <a:tr h="36518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Name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u="none" strike="noStrike" dirty="0">
                          <a:effectLst/>
                        </a:rPr>
                        <a:t>Contact No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Email ID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Login Credential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153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Shareable Link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153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u="none" strike="noStrike" dirty="0">
                          <a:effectLst/>
                        </a:rPr>
                        <a:t>Lock/Unlock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21318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AMIR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055 32 51321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foustinmichel@yahoo.com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619588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DINESH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055 621 51 32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alsahilalgharbi@gmail.com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90333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JALAAL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055 621 51 32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cvtcuae@gmail.com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53688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05094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441304"/>
            <a:ext cx="400106" cy="304843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865341"/>
            <a:ext cx="400106" cy="3048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561" y="3050946"/>
            <a:ext cx="400106" cy="3048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561" y="3441303"/>
            <a:ext cx="400106" cy="304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561" y="3858884"/>
            <a:ext cx="400106" cy="3048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4160" y="3022367"/>
            <a:ext cx="543001" cy="3334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3893" y="3836762"/>
            <a:ext cx="543001" cy="3334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3893" y="3458106"/>
            <a:ext cx="571580" cy="32389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6894" y="2191095"/>
            <a:ext cx="362001" cy="33342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Third Party</a:t>
            </a:r>
            <a:endParaRPr lang="en-US" sz="1200" b="1" dirty="0"/>
          </a:p>
        </p:txBody>
      </p:sp>
      <p:sp>
        <p:nvSpPr>
          <p:cNvPr id="2" name="Oval 1"/>
          <p:cNvSpPr/>
          <p:nvPr/>
        </p:nvSpPr>
        <p:spPr>
          <a:xfrm>
            <a:off x="8421167" y="3801125"/>
            <a:ext cx="788565" cy="4967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0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Z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8135" y="2626834"/>
          <a:ext cx="11435936" cy="1662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5013">
                  <a:extLst>
                    <a:ext uri="{9D8B030D-6E8A-4147-A177-3AD203B41FA5}">
                      <a16:colId xmlns:a16="http://schemas.microsoft.com/office/drawing/2014/main" val="4255928482"/>
                    </a:ext>
                  </a:extLst>
                </a:gridCol>
                <a:gridCol w="2041208">
                  <a:extLst>
                    <a:ext uri="{9D8B030D-6E8A-4147-A177-3AD203B41FA5}">
                      <a16:colId xmlns:a16="http://schemas.microsoft.com/office/drawing/2014/main" val="3998093190"/>
                    </a:ext>
                  </a:extLst>
                </a:gridCol>
                <a:gridCol w="2054464">
                  <a:extLst>
                    <a:ext uri="{9D8B030D-6E8A-4147-A177-3AD203B41FA5}">
                      <a16:colId xmlns:a16="http://schemas.microsoft.com/office/drawing/2014/main" val="3711394776"/>
                    </a:ext>
                  </a:extLst>
                </a:gridCol>
                <a:gridCol w="1272441">
                  <a:extLst>
                    <a:ext uri="{9D8B030D-6E8A-4147-A177-3AD203B41FA5}">
                      <a16:colId xmlns:a16="http://schemas.microsoft.com/office/drawing/2014/main" val="1934743498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1801638381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1420135979"/>
                    </a:ext>
                  </a:extLst>
                </a:gridCol>
              </a:tblGrid>
              <a:tr h="36518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Name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u="none" strike="noStrike" dirty="0">
                          <a:effectLst/>
                        </a:rPr>
                        <a:t>Contact No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Email ID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Login Credential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153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 dirty="0">
                          <a:effectLst/>
                        </a:rPr>
                        <a:t>Shareable Link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153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u="none" strike="noStrike" dirty="0">
                          <a:effectLst/>
                        </a:rPr>
                        <a:t>Lock/Unlock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21318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AMIR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055 32 51321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foustinmichel@yahoo.com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619588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DINESH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055 621 51 32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alsahilalgharbi@gmail.com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>
                          <a:effectLst/>
                        </a:rPr>
                        <a:t> </a:t>
                      </a:r>
                      <a:endParaRPr lang="en-AE" sz="10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90333"/>
                  </a:ext>
                </a:extLst>
              </a:tr>
              <a:tr h="432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JALAAL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055 621 51 32</a:t>
                      </a:r>
                      <a:endParaRPr lang="en-AE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cvtcuae@gmail.com</a:t>
                      </a:r>
                      <a:endParaRPr lang="en-US" sz="10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000" u="none" strike="noStrike" dirty="0">
                          <a:effectLst/>
                        </a:rPr>
                        <a:t> </a:t>
                      </a:r>
                      <a:endParaRPr lang="en-AE" sz="10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53688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05094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441304"/>
            <a:ext cx="400106" cy="3048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865341"/>
            <a:ext cx="400106" cy="3048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050946"/>
            <a:ext cx="400106" cy="3048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441303"/>
            <a:ext cx="400106" cy="304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858884"/>
            <a:ext cx="400106" cy="3048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022367"/>
            <a:ext cx="543001" cy="3334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893" y="3836762"/>
            <a:ext cx="543001" cy="3334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3893" y="3458106"/>
            <a:ext cx="571580" cy="32389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6894" y="2191095"/>
            <a:ext cx="362001" cy="33342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Third Party</a:t>
            </a:r>
            <a:endParaRPr lang="en-US" sz="1200" b="1" dirty="0"/>
          </a:p>
        </p:txBody>
      </p:sp>
      <p:pic>
        <p:nvPicPr>
          <p:cNvPr id="2" name="Picture 1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0086" y="2074493"/>
            <a:ext cx="5134692" cy="3296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176" y="2191095"/>
            <a:ext cx="1829055" cy="352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23225" y="2150070"/>
            <a:ext cx="182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E5A83F"/>
                </a:solidFill>
              </a:rPr>
              <a:t>JALAAL</a:t>
            </a:r>
            <a:endParaRPr lang="en-US" sz="1600" dirty="0">
              <a:solidFill>
                <a:srgbClr val="E5A83F"/>
              </a:solidFill>
            </a:endParaRPr>
          </a:p>
        </p:txBody>
      </p:sp>
      <p:sp>
        <p:nvSpPr>
          <p:cNvPr id="27" name="Left-Up Arrow 26"/>
          <p:cNvSpPr/>
          <p:nvPr/>
        </p:nvSpPr>
        <p:spPr>
          <a:xfrm>
            <a:off x="8212680" y="4195086"/>
            <a:ext cx="702013" cy="485706"/>
          </a:xfrm>
          <a:prstGeom prst="leftUpArrow">
            <a:avLst>
              <a:gd name="adj1" fmla="val 14637"/>
              <a:gd name="adj2" fmla="val 22409"/>
              <a:gd name="adj3" fmla="val 284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392411" y="4806892"/>
            <a:ext cx="1182848" cy="6627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7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60596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5215486" y="828756"/>
            <a:ext cx="1436137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Expense Report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68970"/>
              </p:ext>
            </p:extLst>
          </p:nvPr>
        </p:nvGraphicFramePr>
        <p:xfrm>
          <a:off x="503339" y="4389586"/>
          <a:ext cx="11457292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6055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01888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7120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33708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294437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4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869703"/>
              </p:ext>
            </p:extLst>
          </p:nvPr>
        </p:nvGraphicFramePr>
        <p:xfrm>
          <a:off x="385194" y="2547734"/>
          <a:ext cx="11392950" cy="1588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719">
                  <a:extLst>
                    <a:ext uri="{9D8B030D-6E8A-4147-A177-3AD203B41FA5}">
                      <a16:colId xmlns:a16="http://schemas.microsoft.com/office/drawing/2014/main" val="1818921086"/>
                    </a:ext>
                  </a:extLst>
                </a:gridCol>
                <a:gridCol w="2030688">
                  <a:extLst>
                    <a:ext uri="{9D8B030D-6E8A-4147-A177-3AD203B41FA5}">
                      <a16:colId xmlns:a16="http://schemas.microsoft.com/office/drawing/2014/main" val="3901645518"/>
                    </a:ext>
                  </a:extLst>
                </a:gridCol>
                <a:gridCol w="2043874">
                  <a:extLst>
                    <a:ext uri="{9D8B030D-6E8A-4147-A177-3AD203B41FA5}">
                      <a16:colId xmlns:a16="http://schemas.microsoft.com/office/drawing/2014/main" val="7640171"/>
                    </a:ext>
                  </a:extLst>
                </a:gridCol>
                <a:gridCol w="1265883">
                  <a:extLst>
                    <a:ext uri="{9D8B030D-6E8A-4147-A177-3AD203B41FA5}">
                      <a16:colId xmlns:a16="http://schemas.microsoft.com/office/drawing/2014/main" val="79020002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3317020119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2628135004"/>
                    </a:ext>
                  </a:extLst>
                </a:gridCol>
              </a:tblGrid>
              <a:tr h="348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Legal Firm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Contact No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Email ID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Login Credential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Shareable Link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Lock/Unlock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59566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 smtClean="0">
                          <a:effectLst/>
                        </a:rPr>
                        <a:t>06-56745152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foustinmichel@yahoo.com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93615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effectLst/>
                        </a:rPr>
                        <a:t>Shafar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alsahilalgharbi@gmail.com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28373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9792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2958668"/>
            <a:ext cx="400106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295866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2930088"/>
            <a:ext cx="543001" cy="333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341022"/>
            <a:ext cx="400106" cy="304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341021"/>
            <a:ext cx="400106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312442"/>
            <a:ext cx="543001" cy="33342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2" name="Rectangle 21">
            <a:hlinkClick r:id="rId7" action="ppaction://hlinksldjump"/>
          </p:cNvPr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Legal Firm</a:t>
            </a:r>
            <a:endParaRPr lang="en-US" sz="1200" b="1" dirty="0"/>
          </a:p>
        </p:txBody>
      </p:sp>
      <p:sp>
        <p:nvSpPr>
          <p:cNvPr id="2" name="Oval 1"/>
          <p:cNvSpPr/>
          <p:nvPr/>
        </p:nvSpPr>
        <p:spPr>
          <a:xfrm>
            <a:off x="9706174" y="338792"/>
            <a:ext cx="2155971" cy="7975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8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 firms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u="none" strike="noStrike" dirty="0" err="1" smtClean="0">
                <a:effectLst/>
              </a:rPr>
              <a:t>Khaleej</a:t>
            </a:r>
            <a:r>
              <a:rPr lang="en-US" sz="800" u="none" strike="noStrike" dirty="0" smtClean="0">
                <a:effectLst/>
              </a:rPr>
              <a:t> &amp; Associates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Firm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Address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u="none" strike="noStrike" dirty="0" smtClean="0">
                <a:effectLst/>
              </a:rPr>
              <a:t>055 621 51 32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Contact No</a:t>
            </a:r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52917" y="3866257"/>
            <a:ext cx="952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Upload Visiting Card</a:t>
            </a:r>
            <a:endParaRPr lang="en-US" sz="10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32" y="3961645"/>
            <a:ext cx="1892397" cy="26671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87" y="3949148"/>
            <a:ext cx="775304" cy="605115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439266" y="1033929"/>
            <a:ext cx="6174557" cy="2582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5439266" y="3997915"/>
            <a:ext cx="6174557" cy="1591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439266" y="972372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Bank Account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976589"/>
              </p:ext>
            </p:extLst>
          </p:nvPr>
        </p:nvGraphicFramePr>
        <p:xfrm>
          <a:off x="5481688" y="4435599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439266" y="3904398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818" y="4077050"/>
            <a:ext cx="971600" cy="27941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516359" y="132196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564252" y="132196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Type</a:t>
            </a:r>
            <a:endParaRPr lang="en-US" sz="1000" dirty="0"/>
          </a:p>
        </p:txBody>
      </p:sp>
      <p:sp>
        <p:nvSpPr>
          <p:cNvPr id="46" name="Rounded Rectangle 45"/>
          <p:cNvSpPr/>
          <p:nvPr/>
        </p:nvSpPr>
        <p:spPr>
          <a:xfrm>
            <a:off x="6516359" y="16383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564252" y="16383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name</a:t>
            </a:r>
            <a:endParaRPr lang="en-US" sz="10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9466" y="4487200"/>
            <a:ext cx="268988" cy="1050333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16359" y="194903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564252" y="194903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Bank name</a:t>
            </a:r>
            <a:endParaRPr lang="en-US" sz="1000" dirty="0"/>
          </a:p>
        </p:txBody>
      </p:sp>
      <p:sp>
        <p:nvSpPr>
          <p:cNvPr id="51" name="Rounded Rectangle 50"/>
          <p:cNvSpPr/>
          <p:nvPr/>
        </p:nvSpPr>
        <p:spPr>
          <a:xfrm>
            <a:off x="6516359" y="22604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564252" y="226042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IBAN  No</a:t>
            </a:r>
            <a:endParaRPr lang="en-US"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6516359" y="257679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564252" y="257679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No</a:t>
            </a:r>
            <a:endParaRPr lang="en-US" sz="1000" dirty="0"/>
          </a:p>
        </p:txBody>
      </p:sp>
      <p:sp>
        <p:nvSpPr>
          <p:cNvPr id="55" name="Rounded Rectangle 54"/>
          <p:cNvSpPr/>
          <p:nvPr/>
        </p:nvSpPr>
        <p:spPr>
          <a:xfrm>
            <a:off x="6516359" y="288748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564252" y="288748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Bank Country</a:t>
            </a:r>
            <a:endParaRPr lang="en-US"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6516359" y="32272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564252" y="322722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Swift Code</a:t>
            </a:r>
            <a:endParaRPr lang="en-US" sz="1000" dirty="0"/>
          </a:p>
        </p:txBody>
      </p:sp>
      <p:pic>
        <p:nvPicPr>
          <p:cNvPr id="63" name="Picture 62" descr="forms - &lt;strong&gt;Submit&lt;/strong&gt; and Reset &lt;strong&gt;button&lt;/strong&gt;, what's the best order? - User ...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u="none" strike="noStrike" dirty="0" smtClean="0">
                <a:effectLst/>
              </a:rPr>
              <a:t>cvtcuae@gmail.com</a:t>
            </a:r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Email</a:t>
            </a:r>
            <a:endParaRPr lang="en-US" sz="1000" dirty="0"/>
          </a:p>
        </p:txBody>
      </p:sp>
      <p:sp>
        <p:nvSpPr>
          <p:cNvPr id="59" name="Rounded Rectangle 58"/>
          <p:cNvSpPr/>
          <p:nvPr/>
        </p:nvSpPr>
        <p:spPr>
          <a:xfrm>
            <a:off x="1405022" y="273646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2915" y="2736464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Po Box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307807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5" y="3078073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sp>
        <p:nvSpPr>
          <p:cNvPr id="2" name="Oval 1"/>
          <p:cNvSpPr/>
          <p:nvPr/>
        </p:nvSpPr>
        <p:spPr>
          <a:xfrm>
            <a:off x="2818245" y="268448"/>
            <a:ext cx="1124581" cy="5452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7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 Firm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76" y="996431"/>
            <a:ext cx="809738" cy="314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04595" y="3011648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Documents Type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51963" y="1280149"/>
            <a:ext cx="3591611" cy="766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551962" y="1295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Trading License</a:t>
            </a:r>
            <a:endParaRPr lang="en-US" sz="800" dirty="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551961" y="153921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Agreement</a:t>
            </a:r>
            <a:endParaRPr lang="en-US" sz="800" dirty="0">
              <a:latin typeface="+mj-l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51961" y="178480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Other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04594" y="3272577"/>
          <a:ext cx="11546978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789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392189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Document </a:t>
                      </a:r>
                      <a:r>
                        <a:rPr lang="en-US" sz="900" b="1" u="none" strike="noStrike" dirty="0">
                          <a:effectLst/>
                        </a:rPr>
                        <a:t>Type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Attachment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Trading License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Agreement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296" y="3642802"/>
            <a:ext cx="261450" cy="2132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296" y="3969932"/>
            <a:ext cx="261450" cy="213288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9688572" y="5970691"/>
            <a:ext cx="1326173" cy="4060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3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5194" y="2547734"/>
          <a:ext cx="11392950" cy="1588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719">
                  <a:extLst>
                    <a:ext uri="{9D8B030D-6E8A-4147-A177-3AD203B41FA5}">
                      <a16:colId xmlns:a16="http://schemas.microsoft.com/office/drawing/2014/main" val="1818921086"/>
                    </a:ext>
                  </a:extLst>
                </a:gridCol>
                <a:gridCol w="2030688">
                  <a:extLst>
                    <a:ext uri="{9D8B030D-6E8A-4147-A177-3AD203B41FA5}">
                      <a16:colId xmlns:a16="http://schemas.microsoft.com/office/drawing/2014/main" val="3901645518"/>
                    </a:ext>
                  </a:extLst>
                </a:gridCol>
                <a:gridCol w="2043874">
                  <a:extLst>
                    <a:ext uri="{9D8B030D-6E8A-4147-A177-3AD203B41FA5}">
                      <a16:colId xmlns:a16="http://schemas.microsoft.com/office/drawing/2014/main" val="7640171"/>
                    </a:ext>
                  </a:extLst>
                </a:gridCol>
                <a:gridCol w="1265883">
                  <a:extLst>
                    <a:ext uri="{9D8B030D-6E8A-4147-A177-3AD203B41FA5}">
                      <a16:colId xmlns:a16="http://schemas.microsoft.com/office/drawing/2014/main" val="79020002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3317020119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2628135004"/>
                    </a:ext>
                  </a:extLst>
                </a:gridCol>
              </a:tblGrid>
              <a:tr h="348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Legal Firm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Contact No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Email ID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Login Credential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Shareable Link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Lock/Unlock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59566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 smtClean="0">
                          <a:effectLst/>
                        </a:rPr>
                        <a:t>06-56745152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foustinmichel@yahoo.com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93615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effectLst/>
                        </a:rPr>
                        <a:t>Shafar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alsahilalgharbi@gmail.com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28373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Khaleej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cvtcuae@gmail.com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9792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2958668"/>
            <a:ext cx="400106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295866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2930088"/>
            <a:ext cx="543001" cy="333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341022"/>
            <a:ext cx="400106" cy="304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341021"/>
            <a:ext cx="400106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312442"/>
            <a:ext cx="543001" cy="333422"/>
          </a:xfrm>
          <a:prstGeom prst="rect">
            <a:avLst/>
          </a:prstGeom>
        </p:spPr>
      </p:pic>
      <p:pic>
        <p:nvPicPr>
          <p:cNvPr id="16" name="Picture 15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733232"/>
            <a:ext cx="400106" cy="3048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733231"/>
            <a:ext cx="400106" cy="304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704652"/>
            <a:ext cx="543001" cy="33342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Legal Firm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5720" y="2956657"/>
            <a:ext cx="1247949" cy="21910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454723" y="3686191"/>
            <a:ext cx="721453" cy="4025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0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5194" y="2547734"/>
          <a:ext cx="11392950" cy="1588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719">
                  <a:extLst>
                    <a:ext uri="{9D8B030D-6E8A-4147-A177-3AD203B41FA5}">
                      <a16:colId xmlns:a16="http://schemas.microsoft.com/office/drawing/2014/main" val="1818921086"/>
                    </a:ext>
                  </a:extLst>
                </a:gridCol>
                <a:gridCol w="2030688">
                  <a:extLst>
                    <a:ext uri="{9D8B030D-6E8A-4147-A177-3AD203B41FA5}">
                      <a16:colId xmlns:a16="http://schemas.microsoft.com/office/drawing/2014/main" val="3901645518"/>
                    </a:ext>
                  </a:extLst>
                </a:gridCol>
                <a:gridCol w="2043874">
                  <a:extLst>
                    <a:ext uri="{9D8B030D-6E8A-4147-A177-3AD203B41FA5}">
                      <a16:colId xmlns:a16="http://schemas.microsoft.com/office/drawing/2014/main" val="7640171"/>
                    </a:ext>
                  </a:extLst>
                </a:gridCol>
                <a:gridCol w="1265883">
                  <a:extLst>
                    <a:ext uri="{9D8B030D-6E8A-4147-A177-3AD203B41FA5}">
                      <a16:colId xmlns:a16="http://schemas.microsoft.com/office/drawing/2014/main" val="79020002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3317020119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2628135004"/>
                    </a:ext>
                  </a:extLst>
                </a:gridCol>
              </a:tblGrid>
              <a:tr h="348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Legal Firm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Contact No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Email ID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Login Credential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Shareable Link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Lock/Unlock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59566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 smtClean="0">
                          <a:effectLst/>
                        </a:rPr>
                        <a:t>06-56745152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foustinmichel@yahoo.com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93615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effectLst/>
                        </a:rPr>
                        <a:t>Shafar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alsahilalgharbi@gmail.com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28373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Khaleej</a:t>
                      </a:r>
                      <a:r>
                        <a:rPr lang="en-US" sz="900" u="none" strike="noStrike" dirty="0"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cvtcuae@gmail.com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9792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2958668"/>
            <a:ext cx="400106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295866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2930088"/>
            <a:ext cx="543001" cy="333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341022"/>
            <a:ext cx="400106" cy="304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341021"/>
            <a:ext cx="400106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312442"/>
            <a:ext cx="543001" cy="3334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733232"/>
            <a:ext cx="400106" cy="3048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733231"/>
            <a:ext cx="400106" cy="304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704652"/>
            <a:ext cx="543001" cy="33342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Legal Firm</a:t>
            </a:r>
            <a:endParaRPr lang="en-US" sz="1200" b="1" dirty="0"/>
          </a:p>
        </p:txBody>
      </p:sp>
      <p:pic>
        <p:nvPicPr>
          <p:cNvPr id="23" name="Picture 22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5676" y="2080245"/>
            <a:ext cx="5134692" cy="3296110"/>
          </a:xfrm>
          <a:prstGeom prst="rect">
            <a:avLst/>
          </a:prstGeom>
        </p:spPr>
      </p:pic>
      <p:sp>
        <p:nvSpPr>
          <p:cNvPr id="24" name="Left-Up Arrow 23"/>
          <p:cNvSpPr/>
          <p:nvPr/>
        </p:nvSpPr>
        <p:spPr>
          <a:xfrm>
            <a:off x="8212680" y="4195086"/>
            <a:ext cx="702013" cy="485706"/>
          </a:xfrm>
          <a:prstGeom prst="leftUpArrow">
            <a:avLst>
              <a:gd name="adj1" fmla="val 14637"/>
              <a:gd name="adj2" fmla="val 22409"/>
              <a:gd name="adj3" fmla="val 284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5720" y="2956657"/>
            <a:ext cx="1247949" cy="2191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90414" y="2934790"/>
            <a:ext cx="22204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 smtClean="0"/>
              <a:t>Alkabban</a:t>
            </a:r>
            <a:endParaRPr lang="en-US" sz="10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3212" y="2145665"/>
            <a:ext cx="2057687" cy="333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53212" y="2154481"/>
            <a:ext cx="282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E5A83F"/>
                </a:solidFill>
              </a:rPr>
              <a:t>Al </a:t>
            </a:r>
            <a:r>
              <a:rPr lang="en-US" sz="1400" b="1" dirty="0" err="1" smtClean="0">
                <a:solidFill>
                  <a:srgbClr val="E5A83F"/>
                </a:solidFill>
              </a:rPr>
              <a:t>Kabban</a:t>
            </a:r>
            <a:r>
              <a:rPr lang="en-US" sz="1400" b="1" dirty="0" smtClean="0">
                <a:solidFill>
                  <a:srgbClr val="E5A83F"/>
                </a:solidFill>
              </a:rPr>
              <a:t> &amp; Associates</a:t>
            </a:r>
            <a:endParaRPr lang="en-US" sz="1400" b="1" dirty="0">
              <a:solidFill>
                <a:srgbClr val="E5A83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602136" y="4832059"/>
            <a:ext cx="947956" cy="5442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1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60596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7539239" y="853923"/>
            <a:ext cx="1436137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Expense Report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98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845648"/>
              </p:ext>
            </p:extLst>
          </p:nvPr>
        </p:nvGraphicFramePr>
        <p:xfrm>
          <a:off x="385194" y="2547734"/>
          <a:ext cx="11392950" cy="1588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719">
                  <a:extLst>
                    <a:ext uri="{9D8B030D-6E8A-4147-A177-3AD203B41FA5}">
                      <a16:colId xmlns:a16="http://schemas.microsoft.com/office/drawing/2014/main" val="1818921086"/>
                    </a:ext>
                  </a:extLst>
                </a:gridCol>
                <a:gridCol w="2030688">
                  <a:extLst>
                    <a:ext uri="{9D8B030D-6E8A-4147-A177-3AD203B41FA5}">
                      <a16:colId xmlns:a16="http://schemas.microsoft.com/office/drawing/2014/main" val="3901645518"/>
                    </a:ext>
                  </a:extLst>
                </a:gridCol>
                <a:gridCol w="2043874">
                  <a:extLst>
                    <a:ext uri="{9D8B030D-6E8A-4147-A177-3AD203B41FA5}">
                      <a16:colId xmlns:a16="http://schemas.microsoft.com/office/drawing/2014/main" val="7640171"/>
                    </a:ext>
                  </a:extLst>
                </a:gridCol>
                <a:gridCol w="1265883">
                  <a:extLst>
                    <a:ext uri="{9D8B030D-6E8A-4147-A177-3AD203B41FA5}">
                      <a16:colId xmlns:a16="http://schemas.microsoft.com/office/drawing/2014/main" val="79020002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3317020119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2628135004"/>
                    </a:ext>
                  </a:extLst>
                </a:gridCol>
              </a:tblGrid>
              <a:tr h="348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Legal Firm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Contact No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Email ID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Login Credential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Shareable Link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Lock/Unlock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59566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Alpha</a:t>
                      </a:r>
                      <a:r>
                        <a:rPr lang="en-US" sz="900" b="0" i="0" u="none" strike="noStrike" baseline="0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 smtClean="0">
                          <a:effectLst/>
                        </a:rPr>
                        <a:t>06-56745152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foustinmichel@yahoo.com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93615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Derby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alsahilalgharbi@gmail.com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28373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dirty="0" smtClean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 smtClean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9792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2958668"/>
            <a:ext cx="400106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295866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2930088"/>
            <a:ext cx="543001" cy="333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341022"/>
            <a:ext cx="400106" cy="304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341021"/>
            <a:ext cx="400106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312442"/>
            <a:ext cx="543001" cy="33342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2" name="Rectangle 21">
            <a:hlinkClick r:id="rId7" action="ppaction://hlinksldjump"/>
          </p:cNvPr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Debt Collector</a:t>
            </a:r>
            <a:endParaRPr lang="en-US" sz="1200" b="1" dirty="0"/>
          </a:p>
        </p:txBody>
      </p:sp>
      <p:sp>
        <p:nvSpPr>
          <p:cNvPr id="2" name="Oval 1"/>
          <p:cNvSpPr/>
          <p:nvPr/>
        </p:nvSpPr>
        <p:spPr>
          <a:xfrm>
            <a:off x="9938882" y="384785"/>
            <a:ext cx="1912691" cy="7793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Collector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dirty="0" err="1">
                <a:solidFill>
                  <a:srgbClr val="656D78"/>
                </a:solidFill>
                <a:latin typeface="Arial" panose="020B0604020202020204" pitchFamily="34" charset="0"/>
              </a:rPr>
              <a:t>Elagamy</a:t>
            </a:r>
            <a:r>
              <a:rPr lang="en-US" sz="800" dirty="0">
                <a:solidFill>
                  <a:srgbClr val="656D78"/>
                </a:solidFill>
                <a:latin typeface="Arial" panose="020B0604020202020204" pitchFamily="34" charset="0"/>
              </a:rPr>
              <a:t> Debt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Firm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Address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u="none" strike="noStrike" dirty="0" smtClean="0">
                <a:effectLst/>
              </a:rPr>
              <a:t>055 621 51 32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Contact No</a:t>
            </a:r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52917" y="3866257"/>
            <a:ext cx="952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Upload Visiting Card</a:t>
            </a:r>
            <a:endParaRPr lang="en-US" sz="10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32" y="3961645"/>
            <a:ext cx="1892397" cy="26671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87" y="3949148"/>
            <a:ext cx="775304" cy="605115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439266" y="1033929"/>
            <a:ext cx="6174557" cy="2582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5439266" y="3997915"/>
            <a:ext cx="6174557" cy="1591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439266" y="972372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Bank Account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5481688" y="4435599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439266" y="3904398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818" y="4077050"/>
            <a:ext cx="971600" cy="27941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516359" y="132196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564252" y="132196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Type</a:t>
            </a:r>
            <a:endParaRPr lang="en-US" sz="1000" dirty="0"/>
          </a:p>
        </p:txBody>
      </p:sp>
      <p:sp>
        <p:nvSpPr>
          <p:cNvPr id="46" name="Rounded Rectangle 45"/>
          <p:cNvSpPr/>
          <p:nvPr/>
        </p:nvSpPr>
        <p:spPr>
          <a:xfrm>
            <a:off x="6516359" y="16383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564252" y="16383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name</a:t>
            </a:r>
            <a:endParaRPr lang="en-US" sz="10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9466" y="4487200"/>
            <a:ext cx="268988" cy="1050333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516359" y="194903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564252" y="194903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Bank name</a:t>
            </a:r>
            <a:endParaRPr lang="en-US" sz="1000" dirty="0"/>
          </a:p>
        </p:txBody>
      </p:sp>
      <p:sp>
        <p:nvSpPr>
          <p:cNvPr id="51" name="Rounded Rectangle 50"/>
          <p:cNvSpPr/>
          <p:nvPr/>
        </p:nvSpPr>
        <p:spPr>
          <a:xfrm>
            <a:off x="6516359" y="22604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564252" y="226042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IBAN  No</a:t>
            </a:r>
            <a:endParaRPr lang="en-US"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6516359" y="257679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564252" y="257679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Account No</a:t>
            </a:r>
            <a:endParaRPr lang="en-US" sz="1000" dirty="0"/>
          </a:p>
        </p:txBody>
      </p:sp>
      <p:sp>
        <p:nvSpPr>
          <p:cNvPr id="55" name="Rounded Rectangle 54"/>
          <p:cNvSpPr/>
          <p:nvPr/>
        </p:nvSpPr>
        <p:spPr>
          <a:xfrm>
            <a:off x="6516359" y="288748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564252" y="288748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Bank Country</a:t>
            </a:r>
            <a:endParaRPr lang="en-US"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6516359" y="32272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564252" y="322722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Swift Code</a:t>
            </a:r>
            <a:endParaRPr lang="en-US" sz="1000" dirty="0"/>
          </a:p>
        </p:txBody>
      </p:sp>
      <p:pic>
        <p:nvPicPr>
          <p:cNvPr id="63" name="Picture 62" descr="forms - &lt;strong&gt;Submit&lt;/strong&gt; and Reset &lt;strong&gt;button&lt;/strong&gt;, what's the best order? - User ...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u="none" strike="noStrike" dirty="0" smtClean="0">
                <a:effectLst/>
              </a:rPr>
              <a:t>cvtcuae@gmail.com</a:t>
            </a:r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Email</a:t>
            </a:r>
            <a:endParaRPr lang="en-US" sz="1000" dirty="0"/>
          </a:p>
        </p:txBody>
      </p:sp>
      <p:sp>
        <p:nvSpPr>
          <p:cNvPr id="59" name="Rounded Rectangle 58"/>
          <p:cNvSpPr/>
          <p:nvPr/>
        </p:nvSpPr>
        <p:spPr>
          <a:xfrm>
            <a:off x="1405022" y="273646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2915" y="2736464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Po Box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307807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5" y="3078073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8" action="ppaction://hlinksldjump"/>
          </p:cNvPr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sp>
        <p:nvSpPr>
          <p:cNvPr id="3" name="Oval 2"/>
          <p:cNvSpPr/>
          <p:nvPr/>
        </p:nvSpPr>
        <p:spPr>
          <a:xfrm>
            <a:off x="2751589" y="243281"/>
            <a:ext cx="1249960" cy="5452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6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Collector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Documents</a:t>
            </a:r>
            <a:endParaRPr lang="en-US" sz="10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76" y="996431"/>
            <a:ext cx="809738" cy="314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04595" y="3011648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Documents Type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51963" y="1280149"/>
            <a:ext cx="3591611" cy="766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551962" y="1295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Trading License</a:t>
            </a:r>
            <a:endParaRPr lang="en-US" sz="800" dirty="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551961" y="153921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Agreement</a:t>
            </a:r>
            <a:endParaRPr lang="en-US" sz="800" dirty="0">
              <a:latin typeface="+mj-l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51961" y="178480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Other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04594" y="3272577"/>
          <a:ext cx="11546978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789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392189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Document </a:t>
                      </a:r>
                      <a:r>
                        <a:rPr lang="en-US" sz="900" b="1" u="none" strike="noStrike" dirty="0">
                          <a:effectLst/>
                        </a:rPr>
                        <a:t>Type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Attachment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Trading License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Agreement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296" y="3642802"/>
            <a:ext cx="261450" cy="2132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296" y="3969932"/>
            <a:ext cx="261450" cy="213288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9688573" y="5840716"/>
            <a:ext cx="1345108" cy="6207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2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85194" y="2547734"/>
          <a:ext cx="11392950" cy="1588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719">
                  <a:extLst>
                    <a:ext uri="{9D8B030D-6E8A-4147-A177-3AD203B41FA5}">
                      <a16:colId xmlns:a16="http://schemas.microsoft.com/office/drawing/2014/main" val="1818921086"/>
                    </a:ext>
                  </a:extLst>
                </a:gridCol>
                <a:gridCol w="2030688">
                  <a:extLst>
                    <a:ext uri="{9D8B030D-6E8A-4147-A177-3AD203B41FA5}">
                      <a16:colId xmlns:a16="http://schemas.microsoft.com/office/drawing/2014/main" val="3901645518"/>
                    </a:ext>
                  </a:extLst>
                </a:gridCol>
                <a:gridCol w="2043874">
                  <a:extLst>
                    <a:ext uri="{9D8B030D-6E8A-4147-A177-3AD203B41FA5}">
                      <a16:colId xmlns:a16="http://schemas.microsoft.com/office/drawing/2014/main" val="7640171"/>
                    </a:ext>
                  </a:extLst>
                </a:gridCol>
                <a:gridCol w="1265883">
                  <a:extLst>
                    <a:ext uri="{9D8B030D-6E8A-4147-A177-3AD203B41FA5}">
                      <a16:colId xmlns:a16="http://schemas.microsoft.com/office/drawing/2014/main" val="79020002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3317020119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2628135004"/>
                    </a:ext>
                  </a:extLst>
                </a:gridCol>
              </a:tblGrid>
              <a:tr h="348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Legal Firm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Contact No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Email ID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Login Credential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Shareable Link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Lock/Unlock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59566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Alpha</a:t>
                      </a:r>
                      <a:r>
                        <a:rPr lang="en-US" sz="900" b="0" i="0" u="none" strike="noStrike" baseline="0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 smtClean="0">
                          <a:effectLst/>
                        </a:rPr>
                        <a:t>06-56745152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foustinmichel@yahoo.com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93615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Derby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alsahilalgharbi@gmail.com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28373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Elagamy</a:t>
                      </a:r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900" u="none" strike="noStrike" dirty="0" smtClean="0">
                          <a:effectLst/>
                        </a:rPr>
                        <a:t>055 621 51 32</a:t>
                      </a:r>
                      <a:endParaRPr lang="en-AE" sz="900" b="0" i="0" u="none" strike="noStrike" dirty="0" smtClean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 smtClean="0">
                          <a:effectLst/>
                        </a:rPr>
                        <a:t>cvtcuae@gmail.com</a:t>
                      </a:r>
                      <a:endParaRPr lang="en-US" sz="900" b="0" i="0" u="none" strike="noStrike" dirty="0" smtClean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9792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2958668"/>
            <a:ext cx="400106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295866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2930088"/>
            <a:ext cx="543001" cy="333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341022"/>
            <a:ext cx="400106" cy="304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341021"/>
            <a:ext cx="400106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312442"/>
            <a:ext cx="543001" cy="33342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2" name="Rectangle 21">
            <a:hlinkClick r:id="rId7" action="ppaction://hlinksldjump"/>
          </p:cNvPr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Debt Collector</a:t>
            </a:r>
            <a:endParaRPr lang="en-US" sz="1200" b="1" dirty="0"/>
          </a:p>
        </p:txBody>
      </p:sp>
      <p:pic>
        <p:nvPicPr>
          <p:cNvPr id="24" name="Picture 23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729820"/>
            <a:ext cx="400106" cy="3048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729819"/>
            <a:ext cx="400106" cy="30484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701240"/>
            <a:ext cx="543001" cy="33342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8475696" y="3671620"/>
            <a:ext cx="679508" cy="4059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152280" y="45462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u="sng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Collector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63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400215"/>
              </p:ext>
            </p:extLst>
          </p:nvPr>
        </p:nvGraphicFramePr>
        <p:xfrm>
          <a:off x="385194" y="2547734"/>
          <a:ext cx="11392950" cy="1588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719">
                  <a:extLst>
                    <a:ext uri="{9D8B030D-6E8A-4147-A177-3AD203B41FA5}">
                      <a16:colId xmlns:a16="http://schemas.microsoft.com/office/drawing/2014/main" val="1818921086"/>
                    </a:ext>
                  </a:extLst>
                </a:gridCol>
                <a:gridCol w="2030688">
                  <a:extLst>
                    <a:ext uri="{9D8B030D-6E8A-4147-A177-3AD203B41FA5}">
                      <a16:colId xmlns:a16="http://schemas.microsoft.com/office/drawing/2014/main" val="3901645518"/>
                    </a:ext>
                  </a:extLst>
                </a:gridCol>
                <a:gridCol w="2043874">
                  <a:extLst>
                    <a:ext uri="{9D8B030D-6E8A-4147-A177-3AD203B41FA5}">
                      <a16:colId xmlns:a16="http://schemas.microsoft.com/office/drawing/2014/main" val="7640171"/>
                    </a:ext>
                  </a:extLst>
                </a:gridCol>
                <a:gridCol w="1265883">
                  <a:extLst>
                    <a:ext uri="{9D8B030D-6E8A-4147-A177-3AD203B41FA5}">
                      <a16:colId xmlns:a16="http://schemas.microsoft.com/office/drawing/2014/main" val="79020002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3317020119"/>
                    </a:ext>
                  </a:extLst>
                </a:gridCol>
                <a:gridCol w="1160393">
                  <a:extLst>
                    <a:ext uri="{9D8B030D-6E8A-4147-A177-3AD203B41FA5}">
                      <a16:colId xmlns:a16="http://schemas.microsoft.com/office/drawing/2014/main" val="2628135004"/>
                    </a:ext>
                  </a:extLst>
                </a:gridCol>
              </a:tblGrid>
              <a:tr h="348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Legal Firm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Contact No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Email ID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Login Credential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Shareable Link</a:t>
                      </a:r>
                      <a:endParaRPr lang="en-US" sz="800" b="1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Lock/Unlock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59566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Alpha</a:t>
                      </a:r>
                      <a:r>
                        <a:rPr lang="en-US" sz="900" b="0" i="0" u="none" strike="noStrike" baseline="0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 smtClean="0">
                          <a:effectLst/>
                        </a:rPr>
                        <a:t>06-56745152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foustinmichel@yahoo.com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93615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Derby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effectLst/>
                        </a:rPr>
                        <a:t>055 621 51 32</a:t>
                      </a:r>
                      <a:endParaRPr lang="en-AE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alsahilalgharbi@gmail.com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28373"/>
                  </a:ext>
                </a:extLst>
              </a:tr>
              <a:tr h="4130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Mohamed</a:t>
                      </a:r>
                      <a:r>
                        <a:rPr lang="en-US" sz="900" b="0" i="0" u="none" strike="noStrike" baseline="0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900" b="0" i="0" u="none" strike="noStrike" baseline="0" dirty="0" err="1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Elagamy</a:t>
                      </a:r>
                      <a:r>
                        <a:rPr lang="en-US" sz="900" b="0" i="0" u="none" strike="noStrike" baseline="0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(DCB)</a:t>
                      </a:r>
                      <a:r>
                        <a:rPr lang="en-US" sz="900" b="0" i="0" u="none" strike="noStrike" dirty="0" smtClean="0">
                          <a:solidFill>
                            <a:srgbClr val="656D78"/>
                          </a:solidFill>
                          <a:effectLst/>
                          <a:latin typeface="Arial" panose="020B0604020202020204" pitchFamily="34" charset="0"/>
                        </a:rPr>
                        <a:t> Debt Collection</a:t>
                      </a:r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900" u="none" strike="noStrike" dirty="0" smtClean="0">
                          <a:effectLst/>
                        </a:rPr>
                        <a:t>055 621 51 32</a:t>
                      </a:r>
                      <a:endParaRPr lang="en-AE" sz="900" b="0" i="0" u="none" strike="noStrike" dirty="0" smtClean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 smtClean="0">
                          <a:effectLst/>
                        </a:rPr>
                        <a:t>cvtcuae@gmail.com</a:t>
                      </a:r>
                      <a:endParaRPr lang="en-US" sz="900" b="0" i="0" u="none" strike="noStrike" dirty="0" smtClean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n-US" sz="900" b="0" i="0" u="none" strike="noStrike" dirty="0">
                        <a:solidFill>
                          <a:srgbClr val="656D78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1" u="none" strike="noStrike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1" u="none" strike="noStrike" dirty="0">
                        <a:solidFill>
                          <a:srgbClr val="656D78"/>
                        </a:solidFill>
                        <a:effectLst/>
                        <a:latin typeface="FontAwesome"/>
                      </a:endParaRPr>
                    </a:p>
                  </a:txBody>
                  <a:tcPr marL="0" marR="0" marT="0" marB="0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9792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2958668"/>
            <a:ext cx="400106" cy="304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2958667"/>
            <a:ext cx="400106" cy="304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2930088"/>
            <a:ext cx="543001" cy="333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341022"/>
            <a:ext cx="400106" cy="304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341021"/>
            <a:ext cx="400106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312442"/>
            <a:ext cx="543001" cy="33342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85015" y="866818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Name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699" y="858278"/>
            <a:ext cx="2514951" cy="3143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35" y="2158608"/>
            <a:ext cx="10732542" cy="459688"/>
          </a:xfrm>
          <a:prstGeom prst="rect">
            <a:avLst/>
          </a:prstGeom>
        </p:spPr>
      </p:pic>
      <p:sp>
        <p:nvSpPr>
          <p:cNvPr id="22" name="Rectangle 21">
            <a:hlinkClick r:id="rId7" action="ppaction://hlinksldjump"/>
          </p:cNvPr>
          <p:cNvSpPr/>
          <p:nvPr/>
        </p:nvSpPr>
        <p:spPr>
          <a:xfrm>
            <a:off x="10055167" y="566783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Debt Collector</a:t>
            </a:r>
            <a:endParaRPr lang="en-US" sz="1200" b="1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97" y="3729820"/>
            <a:ext cx="400106" cy="3048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561" y="3729819"/>
            <a:ext cx="400106" cy="30484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160" y="3701240"/>
            <a:ext cx="543001" cy="333422"/>
          </a:xfrm>
          <a:prstGeom prst="rect">
            <a:avLst/>
          </a:prstGeom>
        </p:spPr>
      </p:pic>
      <p:pic>
        <p:nvPicPr>
          <p:cNvPr id="17" name="Picture 16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5676" y="2080245"/>
            <a:ext cx="5134692" cy="3296110"/>
          </a:xfrm>
          <a:prstGeom prst="rect">
            <a:avLst/>
          </a:prstGeom>
        </p:spPr>
      </p:pic>
      <p:sp>
        <p:nvSpPr>
          <p:cNvPr id="18" name="Left-Up Arrow 17"/>
          <p:cNvSpPr/>
          <p:nvPr/>
        </p:nvSpPr>
        <p:spPr>
          <a:xfrm>
            <a:off x="8212680" y="4195086"/>
            <a:ext cx="702013" cy="485706"/>
          </a:xfrm>
          <a:prstGeom prst="leftUpArrow">
            <a:avLst>
              <a:gd name="adj1" fmla="val 14637"/>
              <a:gd name="adj2" fmla="val 22409"/>
              <a:gd name="adj3" fmla="val 284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2277" y="2207362"/>
            <a:ext cx="1810003" cy="2191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4403" y="2289447"/>
            <a:ext cx="1810003" cy="2191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7086" y="2981377"/>
            <a:ext cx="1562318" cy="1714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42277" y="2147638"/>
            <a:ext cx="2571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6AD4B"/>
                </a:solidFill>
                <a:latin typeface="Arial" panose="020B0604020202020204" pitchFamily="34" charset="0"/>
              </a:rPr>
              <a:t>Mohamed </a:t>
            </a:r>
            <a:r>
              <a:rPr lang="en-US" sz="1600" dirty="0" err="1">
                <a:solidFill>
                  <a:srgbClr val="E6AD4B"/>
                </a:solidFill>
                <a:latin typeface="Arial" panose="020B0604020202020204" pitchFamily="34" charset="0"/>
              </a:rPr>
              <a:t>Elagamy</a:t>
            </a:r>
            <a:r>
              <a:rPr lang="en-US" sz="1600" dirty="0">
                <a:solidFill>
                  <a:srgbClr val="E6AD4B"/>
                </a:solidFill>
                <a:latin typeface="Arial" panose="020B0604020202020204" pitchFamily="34" charset="0"/>
              </a:rPr>
              <a:t> (DCB) </a:t>
            </a:r>
            <a:endParaRPr lang="en-US" sz="1600" dirty="0">
              <a:solidFill>
                <a:srgbClr val="E6AD4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93657" y="2930088"/>
            <a:ext cx="136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elagamy</a:t>
            </a:r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4899377" y="15453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u="sng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Collector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46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9785362" y="846972"/>
            <a:ext cx="1575278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and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757038"/>
              </p:ext>
            </p:extLst>
          </p:nvPr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6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88285"/>
              </p:ext>
            </p:extLst>
          </p:nvPr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Derby Debt Collection (Debt Collection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Al Kabban &amp; Associates (Legal Firm)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Close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74,677.00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Dinesh (Tihird Pary)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9983730" y="358357"/>
            <a:ext cx="1988191" cy="5631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6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984" y="509989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Anju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Marketing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/>
              <a:t>Al Rajhi Construction LLC</a:t>
            </a:r>
            <a:endParaRPr lang="en-US" sz="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Client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Third Party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Category</a:t>
            </a:r>
            <a:endParaRPr lang="en-US" sz="10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951560"/>
              </p:ext>
            </p:extLst>
          </p:nvPr>
        </p:nvGraphicFramePr>
        <p:xfrm>
          <a:off x="526011" y="4875842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83589" y="4344641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141" y="4517293"/>
            <a:ext cx="971600" cy="27941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89" y="4927443"/>
            <a:ext cx="268988" cy="1050333"/>
          </a:xfrm>
          <a:prstGeom prst="rect">
            <a:avLst/>
          </a:prstGeom>
        </p:spPr>
      </p:pic>
      <p:pic>
        <p:nvPicPr>
          <p:cNvPr id="63" name="Picture 62" descr="forms - &lt;strong&gt;Submit&lt;/strong&gt; and Reset &lt;strong&gt;button&lt;/strong&gt;, what's the best order? - User ...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Amir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Firm/Party/Debt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2810313"/>
            <a:ext cx="3591613" cy="83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7" y="279496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6" action="ppaction://hlinksldjump"/>
          </p:cNvPr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Client Documents</a:t>
            </a:r>
            <a:endParaRPr lang="en-US" sz="1050" dirty="0"/>
          </a:p>
        </p:txBody>
      </p:sp>
      <p:sp>
        <p:nvSpPr>
          <p:cNvPr id="2" name="Line Callout 3 (No Border) 1"/>
          <p:cNvSpPr/>
          <p:nvPr/>
        </p:nvSpPr>
        <p:spPr>
          <a:xfrm>
            <a:off x="5266998" y="1853559"/>
            <a:ext cx="1144407" cy="674265"/>
          </a:xfrm>
          <a:prstGeom prst="callout3">
            <a:avLst>
              <a:gd name="adj1" fmla="val 51645"/>
              <a:gd name="adj2" fmla="val -62"/>
              <a:gd name="adj3" fmla="val 37738"/>
              <a:gd name="adj4" fmla="val -16165"/>
              <a:gd name="adj5" fmla="val 61306"/>
              <a:gd name="adj6" fmla="val -11905"/>
              <a:gd name="adj7" fmla="val 40321"/>
              <a:gd name="adj8" fmla="val -2261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84445" y="1937555"/>
            <a:ext cx="10698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Third Party</a:t>
            </a:r>
          </a:p>
          <a:p>
            <a:r>
              <a:rPr lang="en-US" sz="1050" dirty="0" smtClean="0"/>
              <a:t>Debt Collector</a:t>
            </a:r>
            <a:br>
              <a:rPr lang="en-US" sz="1050" dirty="0" smtClean="0"/>
            </a:br>
            <a:r>
              <a:rPr lang="en-US" sz="1050" dirty="0" smtClean="0"/>
              <a:t>Legal Firm</a:t>
            </a:r>
            <a:endParaRPr lang="en-US" sz="1050" dirty="0"/>
          </a:p>
        </p:txBody>
      </p:sp>
      <p:sp>
        <p:nvSpPr>
          <p:cNvPr id="70" name="Rectangle 69"/>
          <p:cNvSpPr/>
          <p:nvPr/>
        </p:nvSpPr>
        <p:spPr>
          <a:xfrm>
            <a:off x="6678544" y="1057419"/>
            <a:ext cx="4948762" cy="1485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1074796"/>
            <a:ext cx="276264" cy="2476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30118" y="1057655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OUT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E6AD4B"/>
                </a:solidFill>
              </a:rPr>
              <a:t>STANDING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927023" y="131526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87116" y="1231079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75" name="TextBox 74"/>
          <p:cNvSpPr txBox="1"/>
          <p:nvPr/>
        </p:nvSpPr>
        <p:spPr>
          <a:xfrm>
            <a:off x="6787116" y="1667551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6787116" y="2108700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77" name="Rectangle 76"/>
          <p:cNvSpPr/>
          <p:nvPr/>
        </p:nvSpPr>
        <p:spPr>
          <a:xfrm>
            <a:off x="7927023" y="1693407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7023" y="212285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2603057"/>
            <a:ext cx="276264" cy="2476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930118" y="258591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185268"/>
            <a:ext cx="276264" cy="2476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30118" y="3168127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BALANCE CLAIM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927023" y="284269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927023" y="3474456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894330"/>
            <a:ext cx="276264" cy="2476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30118" y="3877189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EXPENSE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927023" y="4183518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7" name="Oval 6"/>
          <p:cNvSpPr/>
          <p:nvPr/>
        </p:nvSpPr>
        <p:spPr>
          <a:xfrm>
            <a:off x="2950488" y="373836"/>
            <a:ext cx="1124581" cy="3450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5340283" y="392013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Commission</a:t>
            </a:r>
            <a:endParaRPr lang="en-US" sz="1050" dirty="0"/>
          </a:p>
        </p:txBody>
      </p:sp>
      <p:sp>
        <p:nvSpPr>
          <p:cNvPr id="90" name="TextBox 89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Third Party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75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Third Party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Client Documents</a:t>
            </a:r>
            <a:endParaRPr lang="en-US" sz="10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76" y="996431"/>
            <a:ext cx="809738" cy="314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04594" y="4235281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Documents Type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51963" y="1280147"/>
            <a:ext cx="3591611" cy="26934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551962" y="1295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Trading License</a:t>
            </a:r>
            <a:endParaRPr lang="en-US" sz="800" dirty="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551961" y="153921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Agreement</a:t>
            </a:r>
            <a:endParaRPr lang="en-US" sz="800" dirty="0">
              <a:latin typeface="+mj-l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51961" y="179189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LPO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336855" y="4505253"/>
          <a:ext cx="11482454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98044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384410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Document </a:t>
                      </a:r>
                      <a:r>
                        <a:rPr lang="en-US" sz="900" b="1" u="none" strike="noStrike" dirty="0">
                          <a:effectLst/>
                        </a:rPr>
                        <a:t>Type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Attachment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Trading License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Agreement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295" y="4866435"/>
            <a:ext cx="261450" cy="2132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295" y="5193565"/>
            <a:ext cx="261450" cy="21328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551961" y="204450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invoice</a:t>
            </a:r>
            <a:endParaRPr lang="en-US" sz="800" dirty="0">
              <a:latin typeface="+mj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551957" y="253341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Owners Documents</a:t>
            </a:r>
            <a:endParaRPr lang="en-US" sz="800" dirty="0">
              <a:latin typeface="+mj-l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551959" y="228980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Time Sheet</a:t>
            </a:r>
            <a:endParaRPr lang="en-US" sz="800" dirty="0">
              <a:latin typeface="+mj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551957" y="278602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err="1">
                <a:latin typeface="+mj-lt"/>
              </a:rPr>
              <a:t>Cheque</a:t>
            </a:r>
            <a:r>
              <a:rPr lang="en-US" sz="800" dirty="0">
                <a:latin typeface="+mj-lt"/>
              </a:rPr>
              <a:t> </a:t>
            </a:r>
            <a:r>
              <a:rPr lang="en-US" sz="800" dirty="0" err="1">
                <a:latin typeface="+mj-lt"/>
              </a:rPr>
              <a:t>Copys</a:t>
            </a:r>
            <a:endParaRPr lang="en-US" sz="800" dirty="0">
              <a:latin typeface="+mj-l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551957" y="303088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err="1" smtClean="0">
                <a:latin typeface="+mj-lt"/>
              </a:rPr>
              <a:t>Cheque</a:t>
            </a:r>
            <a:r>
              <a:rPr lang="en-US" sz="800" dirty="0" smtClean="0">
                <a:latin typeface="+mj-lt"/>
              </a:rPr>
              <a:t> Bounce Report</a:t>
            </a:r>
            <a:endParaRPr lang="en-US" sz="800" dirty="0">
              <a:latin typeface="+mj-lt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551956" y="32757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Email Conversation</a:t>
            </a:r>
            <a:endParaRPr lang="en-US" sz="800" dirty="0">
              <a:latin typeface="+mj-lt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551956" y="352060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Payment Certificates</a:t>
            </a:r>
            <a:endParaRPr lang="en-US" sz="800" dirty="0">
              <a:latin typeface="+mj-l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551956" y="375550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Other Documents</a:t>
            </a:r>
            <a:endParaRPr lang="en-US" sz="800" dirty="0">
              <a:latin typeface="+mj-lt"/>
            </a:endParaRPr>
          </a:p>
        </p:txBody>
      </p:sp>
      <p:sp>
        <p:nvSpPr>
          <p:cNvPr id="37" name="TextBox 36">
            <a:hlinkClick r:id="rId6" action="ppaction://hlinksldjump"/>
          </p:cNvPr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Commission</a:t>
            </a:r>
            <a:endParaRPr lang="en-US" sz="1050" dirty="0"/>
          </a:p>
        </p:txBody>
      </p:sp>
      <p:sp>
        <p:nvSpPr>
          <p:cNvPr id="2" name="Right Arrow 1">
            <a:hlinkClick r:id="rId7" action="ppaction://hlinksldjump"/>
          </p:cNvPr>
          <p:cNvSpPr/>
          <p:nvPr/>
        </p:nvSpPr>
        <p:spPr>
          <a:xfrm>
            <a:off x="6325299" y="2533418"/>
            <a:ext cx="402672" cy="252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27971" y="2541261"/>
            <a:ext cx="11983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Sheet 7 (Same)</a:t>
            </a:r>
            <a:endParaRPr lang="en-US" sz="1050" dirty="0"/>
          </a:p>
        </p:txBody>
      </p:sp>
      <p:sp>
        <p:nvSpPr>
          <p:cNvPr id="10" name="Oval 9"/>
          <p:cNvSpPr/>
          <p:nvPr/>
        </p:nvSpPr>
        <p:spPr>
          <a:xfrm>
            <a:off x="5226341" y="332499"/>
            <a:ext cx="1016279" cy="3772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1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Third Party Commission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Client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18" y="1732295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Commission Slab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Commission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94691" y="1721569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Days</a:t>
            </a:r>
            <a:endParaRPr lang="en-US" sz="800" dirty="0">
              <a:latin typeface="+mj-lt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23132" y="172149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3272" y="1728446"/>
            <a:ext cx="7769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Above</a:t>
            </a:r>
            <a:endParaRPr lang="en-US" sz="1050" dirty="0"/>
          </a:p>
        </p:txBody>
      </p:sp>
      <p:sp>
        <p:nvSpPr>
          <p:cNvPr id="45" name="Rounded Rectangle 44"/>
          <p:cNvSpPr/>
          <p:nvPr/>
        </p:nvSpPr>
        <p:spPr>
          <a:xfrm>
            <a:off x="2994691" y="216936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Days</a:t>
            </a:r>
            <a:endParaRPr lang="en-US" sz="800" dirty="0">
              <a:latin typeface="+mj-lt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423131" y="216936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93272" y="2167269"/>
            <a:ext cx="7769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Below</a:t>
            </a:r>
            <a:endParaRPr lang="en-US" sz="1050" dirty="0"/>
          </a:p>
        </p:txBody>
      </p:sp>
      <p:sp>
        <p:nvSpPr>
          <p:cNvPr id="49" name="Rounded Rectangle 48"/>
          <p:cNvSpPr/>
          <p:nvPr/>
        </p:nvSpPr>
        <p:spPr>
          <a:xfrm>
            <a:off x="7423130" y="255916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93272" y="2555315"/>
            <a:ext cx="11249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 smtClean="0"/>
              <a:t>Cheque</a:t>
            </a:r>
            <a:r>
              <a:rPr lang="en-US" sz="1050" dirty="0" smtClean="0"/>
              <a:t> on Hold </a:t>
            </a:r>
            <a:endParaRPr lang="en-US" sz="1050" dirty="0"/>
          </a:p>
        </p:txBody>
      </p:sp>
      <p:sp>
        <p:nvSpPr>
          <p:cNvPr id="52" name="Rounded Rectangle 51"/>
          <p:cNvSpPr/>
          <p:nvPr/>
        </p:nvSpPr>
        <p:spPr>
          <a:xfrm>
            <a:off x="7423130" y="298678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93271" y="2902141"/>
            <a:ext cx="12560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Dishonored </a:t>
            </a:r>
            <a:r>
              <a:rPr lang="en-US" sz="1050" dirty="0" err="1" smtClean="0"/>
              <a:t>Cheques</a:t>
            </a:r>
            <a:r>
              <a:rPr lang="en-US" sz="1050" dirty="0" smtClean="0"/>
              <a:t> </a:t>
            </a:r>
            <a:endParaRPr lang="en-US" sz="1050" dirty="0"/>
          </a:p>
        </p:txBody>
      </p:sp>
      <p:sp>
        <p:nvSpPr>
          <p:cNvPr id="55" name="Rounded Rectangle 54"/>
          <p:cNvSpPr/>
          <p:nvPr/>
        </p:nvSpPr>
        <p:spPr>
          <a:xfrm>
            <a:off x="7436360" y="345013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93271" y="3419683"/>
            <a:ext cx="12560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Case already with Legal</a:t>
            </a:r>
            <a:endParaRPr 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1216404" y="4890782"/>
            <a:ext cx="49159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Note : Client </a:t>
            </a:r>
            <a:r>
              <a:rPr lang="en-AE" sz="1050" dirty="0" smtClean="0"/>
              <a:t>–</a:t>
            </a:r>
            <a:r>
              <a:rPr lang="en-US" sz="1050" dirty="0" smtClean="0"/>
              <a:t>Category - Party  </a:t>
            </a:r>
            <a:endParaRPr lang="en-US" sz="1050" dirty="0"/>
          </a:p>
        </p:txBody>
      </p:sp>
      <p:sp>
        <p:nvSpPr>
          <p:cNvPr id="57" name="Rounded Rectangle 56"/>
          <p:cNvSpPr/>
          <p:nvPr/>
        </p:nvSpPr>
        <p:spPr>
          <a:xfrm>
            <a:off x="2949332" y="93323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47913" y="940111"/>
            <a:ext cx="919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Party Name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49332" y="129607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647913" y="1302948"/>
            <a:ext cx="919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9647339" y="5897461"/>
            <a:ext cx="1300294" cy="5452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Derby Debt Collection (Debt Collection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Al Kabban &amp; Associates (Legal Firm)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Close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74,677.00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Dinesh (Tihird Pary)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245866" y="3016275"/>
            <a:ext cx="264620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1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Derby Debt Collection (Debt Collection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Al Kabban &amp; Associates (Legal Firm)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Close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74,677.00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Dinesh (Tihird Pary)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3857907" y="1203338"/>
            <a:ext cx="6742600" cy="412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137729" y="1863686"/>
            <a:ext cx="4645753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sz="1050" dirty="0" smtClean="0">
                <a:solidFill>
                  <a:srgbClr val="000000"/>
                </a:solidFill>
                <a:latin typeface="Calibri" panose="020F0502020204030204" pitchFamily="34" charset="0"/>
              </a:rPr>
              <a:t>Debt Collector</a:t>
            </a:r>
            <a:endParaRPr lang="en-AE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138727" y="2329554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sz="1050" dirty="0">
                <a:solidFill>
                  <a:srgbClr val="000000"/>
                </a:solidFill>
                <a:latin typeface="Calibri" panose="020F0502020204030204" pitchFamily="34" charset="0"/>
              </a:rPr>
              <a:t>Derby Debt </a:t>
            </a:r>
            <a:r>
              <a:rPr lang="en-AE" sz="105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Collector</a:t>
            </a:r>
            <a:endParaRPr lang="en-AE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88470" y="1885434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Category 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4088470" y="2353092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Firm/Party</a:t>
            </a:r>
            <a:endParaRPr lang="en-US" sz="1200" dirty="0"/>
          </a:p>
        </p:txBody>
      </p:sp>
      <p:sp>
        <p:nvSpPr>
          <p:cNvPr id="54" name="Rectangle 53"/>
          <p:cNvSpPr/>
          <p:nvPr/>
        </p:nvSpPr>
        <p:spPr>
          <a:xfrm>
            <a:off x="8759091" y="4805250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Shifted</a:t>
            </a:r>
            <a:endParaRPr lang="en-US" sz="1200" b="1" dirty="0"/>
          </a:p>
        </p:txBody>
      </p:sp>
      <p:sp>
        <p:nvSpPr>
          <p:cNvPr id="56" name="Rectangle 55"/>
          <p:cNvSpPr/>
          <p:nvPr/>
        </p:nvSpPr>
        <p:spPr>
          <a:xfrm>
            <a:off x="5133507" y="2850085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039368" y="2869666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Shifted Date</a:t>
            </a:r>
            <a:endParaRPr lang="en-US" sz="1200" dirty="0"/>
          </a:p>
        </p:txBody>
      </p:sp>
      <p:sp>
        <p:nvSpPr>
          <p:cNvPr id="63" name="Oval 62"/>
          <p:cNvSpPr/>
          <p:nvPr/>
        </p:nvSpPr>
        <p:spPr>
          <a:xfrm>
            <a:off x="8354676" y="4533232"/>
            <a:ext cx="2427006" cy="8471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ent Arrow 1"/>
          <p:cNvSpPr/>
          <p:nvPr/>
        </p:nvSpPr>
        <p:spPr>
          <a:xfrm rot="5400000">
            <a:off x="10811157" y="2292118"/>
            <a:ext cx="414796" cy="836096"/>
          </a:xfrm>
          <a:prstGeom prst="bentArrow">
            <a:avLst>
              <a:gd name="adj1" fmla="val 25000"/>
              <a:gd name="adj2" fmla="val 17006"/>
              <a:gd name="adj3" fmla="val 25000"/>
              <a:gd name="adj4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1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22662"/>
              </p:ext>
            </p:extLst>
          </p:nvPr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Derby</a:t>
                      </a:r>
                      <a:r>
                        <a:rPr lang="en-US" sz="7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Debt Collection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Derby Debt Collection (Debt Collection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Al Kabban &amp; Associates (Legal Firm)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Close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74,677.00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Dinesh (Tihird Pary)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413968" y="3016275"/>
            <a:ext cx="1127896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74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8781" y="1861197"/>
            <a:ext cx="11532792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313601"/>
              </p:ext>
            </p:extLst>
          </p:nvPr>
        </p:nvGraphicFramePr>
        <p:xfrm>
          <a:off x="318781" y="2112866"/>
          <a:ext cx="11532792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674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1573089130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4172837177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Firm/Third/Debt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Actions View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Amir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01-05-2021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Derby</a:t>
                      </a:r>
                      <a:r>
                        <a:rPr lang="en-AE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Debt Collector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949695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489005"/>
            <a:ext cx="280744" cy="229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800548"/>
            <a:ext cx="280744" cy="2290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596" y="4020412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Case Listed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Click r:id="rId3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Case</a:t>
            </a:r>
            <a:endParaRPr lang="en-US" sz="1200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124922"/>
              </p:ext>
            </p:extLst>
          </p:nvPr>
        </p:nvGraphicFramePr>
        <p:xfrm>
          <a:off x="318782" y="4272080"/>
          <a:ext cx="11500273" cy="910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5005">
                  <a:extLst>
                    <a:ext uri="{9D8B030D-6E8A-4147-A177-3AD203B41FA5}">
                      <a16:colId xmlns:a16="http://schemas.microsoft.com/office/drawing/2014/main" val="4186502452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1184146345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407192668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1169666689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458357069"/>
                    </a:ext>
                  </a:extLst>
                </a:gridCol>
              </a:tblGrid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Mode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 Date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 Amount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71801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C590/2019, 990/2018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 Petition</a:t>
                      </a:r>
                      <a:endParaRPr lang="en-AE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6114835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2462/2020,2215/2018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311876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343" y="4613967"/>
            <a:ext cx="231856" cy="2113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887" y="4613602"/>
            <a:ext cx="205145" cy="2117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661" y="4619978"/>
            <a:ext cx="225926" cy="20538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805" y="4890609"/>
            <a:ext cx="231856" cy="2113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349" y="4890244"/>
            <a:ext cx="205145" cy="2117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123" y="4896620"/>
            <a:ext cx="225926" cy="20538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8833" y="2478973"/>
            <a:ext cx="283516" cy="239060"/>
          </a:xfrm>
          <a:prstGeom prst="rect">
            <a:avLst/>
          </a:prstGeom>
        </p:spPr>
      </p:pic>
      <p:pic>
        <p:nvPicPr>
          <p:cNvPr id="26" name="Picture 2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165" y="2783415"/>
            <a:ext cx="283516" cy="23906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11109540" y="2792159"/>
            <a:ext cx="374988" cy="2290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77505" y="479036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LLC</a:t>
            </a:r>
            <a:endParaRPr lang="en-US" sz="1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65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984" y="509989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Anju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Marketing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/>
              <a:t>Al Rajhi Construction LLC</a:t>
            </a:r>
            <a:endParaRPr lang="en-US" sz="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Client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dirty="0" smtClean="0">
                <a:solidFill>
                  <a:srgbClr val="656D78"/>
                </a:solidFill>
                <a:latin typeface="Arial" panose="020B0604020202020204" pitchFamily="34" charset="0"/>
              </a:rPr>
              <a:t>Debt Collector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Category</a:t>
            </a:r>
            <a:endParaRPr lang="en-US" sz="10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526011" y="4875842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83589" y="4344641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141" y="4517293"/>
            <a:ext cx="971600" cy="27941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89" y="4927443"/>
            <a:ext cx="268988" cy="1050333"/>
          </a:xfrm>
          <a:prstGeom prst="rect">
            <a:avLst/>
          </a:prstGeom>
        </p:spPr>
      </p:pic>
      <p:pic>
        <p:nvPicPr>
          <p:cNvPr id="63" name="Picture 62" descr="forms - &lt;strong&gt;Submit&lt;/strong&gt; and Reset &lt;strong&gt;button&lt;/strong&gt;, what's the best order? - User ...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dirty="0">
                <a:solidFill>
                  <a:srgbClr val="000000"/>
                </a:solidFill>
                <a:latin typeface="Calibri" panose="020F0502020204030204" pitchFamily="34" charset="0"/>
              </a:rPr>
              <a:t>Derby Debt Collector</a:t>
            </a:r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Firm/Party/Debt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2810313"/>
            <a:ext cx="3591613" cy="83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7" y="279496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6" action="ppaction://hlinksldjump"/>
          </p:cNvPr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Client Documents</a:t>
            </a:r>
            <a:endParaRPr lang="en-US" sz="1050" dirty="0"/>
          </a:p>
        </p:txBody>
      </p:sp>
      <p:sp>
        <p:nvSpPr>
          <p:cNvPr id="2" name="Line Callout 3 (No Border) 1"/>
          <p:cNvSpPr/>
          <p:nvPr/>
        </p:nvSpPr>
        <p:spPr>
          <a:xfrm>
            <a:off x="5266998" y="1853559"/>
            <a:ext cx="1144407" cy="674265"/>
          </a:xfrm>
          <a:prstGeom prst="callout3">
            <a:avLst>
              <a:gd name="adj1" fmla="val 51645"/>
              <a:gd name="adj2" fmla="val -62"/>
              <a:gd name="adj3" fmla="val 37738"/>
              <a:gd name="adj4" fmla="val -16165"/>
              <a:gd name="adj5" fmla="val 61306"/>
              <a:gd name="adj6" fmla="val -11905"/>
              <a:gd name="adj7" fmla="val 40321"/>
              <a:gd name="adj8" fmla="val -2261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84445" y="1937555"/>
            <a:ext cx="10698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Third Party</a:t>
            </a:r>
          </a:p>
          <a:p>
            <a:r>
              <a:rPr lang="en-US" sz="1050" dirty="0" smtClean="0"/>
              <a:t>Debt Collector</a:t>
            </a:r>
            <a:br>
              <a:rPr lang="en-US" sz="1050" dirty="0" smtClean="0"/>
            </a:br>
            <a:r>
              <a:rPr lang="en-US" sz="1050" dirty="0" smtClean="0"/>
              <a:t>Legal Firm</a:t>
            </a:r>
            <a:endParaRPr lang="en-US" sz="1050" dirty="0"/>
          </a:p>
        </p:txBody>
      </p:sp>
      <p:sp>
        <p:nvSpPr>
          <p:cNvPr id="70" name="Rectangle 69"/>
          <p:cNvSpPr/>
          <p:nvPr/>
        </p:nvSpPr>
        <p:spPr>
          <a:xfrm>
            <a:off x="6678544" y="1057419"/>
            <a:ext cx="4948762" cy="1485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1074796"/>
            <a:ext cx="276264" cy="2476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30118" y="1057655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OUT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E6AD4B"/>
                </a:solidFill>
              </a:rPr>
              <a:t>STANDING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927023" y="131526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87116" y="1231079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75" name="TextBox 74"/>
          <p:cNvSpPr txBox="1"/>
          <p:nvPr/>
        </p:nvSpPr>
        <p:spPr>
          <a:xfrm>
            <a:off x="6787116" y="1667551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6787116" y="2108700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77" name="Rectangle 76"/>
          <p:cNvSpPr/>
          <p:nvPr/>
        </p:nvSpPr>
        <p:spPr>
          <a:xfrm>
            <a:off x="7927023" y="1693407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7023" y="212285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2603057"/>
            <a:ext cx="276264" cy="2476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930118" y="258591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185268"/>
            <a:ext cx="276264" cy="2476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30118" y="3168127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BALANCE CLAIM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927023" y="284269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927023" y="3474456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894330"/>
            <a:ext cx="276264" cy="2476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30118" y="3877189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EXPENSE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927023" y="4183518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89" name="TextBox 88">
            <a:hlinkClick r:id="rId8" action="ppaction://hlinksldjump"/>
          </p:cNvPr>
          <p:cNvSpPr txBox="1"/>
          <p:nvPr/>
        </p:nvSpPr>
        <p:spPr>
          <a:xfrm>
            <a:off x="5340283" y="392013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Commission</a:t>
            </a:r>
            <a:endParaRPr lang="en-US" sz="1050" dirty="0"/>
          </a:p>
        </p:txBody>
      </p:sp>
      <p:sp>
        <p:nvSpPr>
          <p:cNvPr id="7" name="Oval 6"/>
          <p:cNvSpPr/>
          <p:nvPr/>
        </p:nvSpPr>
        <p:spPr>
          <a:xfrm>
            <a:off x="5285543" y="341239"/>
            <a:ext cx="1124581" cy="3450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91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Debt Collection Commission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Client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18" y="1732295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Commission Slab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Commission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94691" y="1721569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Days</a:t>
            </a:r>
            <a:endParaRPr lang="en-US" sz="800" dirty="0">
              <a:latin typeface="+mj-lt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23132" y="172149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3272" y="1728446"/>
            <a:ext cx="7769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Above</a:t>
            </a:r>
            <a:endParaRPr lang="en-US" sz="1050" dirty="0"/>
          </a:p>
        </p:txBody>
      </p:sp>
      <p:sp>
        <p:nvSpPr>
          <p:cNvPr id="45" name="Rounded Rectangle 44"/>
          <p:cNvSpPr/>
          <p:nvPr/>
        </p:nvSpPr>
        <p:spPr>
          <a:xfrm>
            <a:off x="2994691" y="216936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Days</a:t>
            </a:r>
            <a:endParaRPr lang="en-US" sz="800" dirty="0">
              <a:latin typeface="+mj-lt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423131" y="216936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93272" y="2167269"/>
            <a:ext cx="7769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Below</a:t>
            </a:r>
            <a:endParaRPr lang="en-US" sz="1050" dirty="0"/>
          </a:p>
        </p:txBody>
      </p:sp>
      <p:sp>
        <p:nvSpPr>
          <p:cNvPr id="49" name="Rounded Rectangle 48"/>
          <p:cNvSpPr/>
          <p:nvPr/>
        </p:nvSpPr>
        <p:spPr>
          <a:xfrm>
            <a:off x="7423130" y="255916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93272" y="2555315"/>
            <a:ext cx="11249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 smtClean="0"/>
              <a:t>Cheque</a:t>
            </a:r>
            <a:r>
              <a:rPr lang="en-US" sz="1050" dirty="0" smtClean="0"/>
              <a:t> on Hold </a:t>
            </a:r>
            <a:endParaRPr lang="en-US" sz="1050" dirty="0"/>
          </a:p>
        </p:txBody>
      </p:sp>
      <p:sp>
        <p:nvSpPr>
          <p:cNvPr id="52" name="Rounded Rectangle 51"/>
          <p:cNvSpPr/>
          <p:nvPr/>
        </p:nvSpPr>
        <p:spPr>
          <a:xfrm>
            <a:off x="7423130" y="298678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93271" y="2902141"/>
            <a:ext cx="12560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Dishonored </a:t>
            </a:r>
            <a:r>
              <a:rPr lang="en-US" sz="1050" dirty="0" err="1" smtClean="0"/>
              <a:t>Cheques</a:t>
            </a:r>
            <a:r>
              <a:rPr lang="en-US" sz="1050" dirty="0" smtClean="0"/>
              <a:t> </a:t>
            </a:r>
            <a:endParaRPr lang="en-US" sz="1050" dirty="0"/>
          </a:p>
        </p:txBody>
      </p:sp>
      <p:sp>
        <p:nvSpPr>
          <p:cNvPr id="55" name="Rounded Rectangle 54"/>
          <p:cNvSpPr/>
          <p:nvPr/>
        </p:nvSpPr>
        <p:spPr>
          <a:xfrm>
            <a:off x="7436360" y="345013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93271" y="3419683"/>
            <a:ext cx="12560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Case already with Legal</a:t>
            </a:r>
            <a:endParaRPr 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1216404" y="4890782"/>
            <a:ext cx="49159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Note : Client </a:t>
            </a:r>
            <a:r>
              <a:rPr lang="en-AE" sz="1050" dirty="0" smtClean="0"/>
              <a:t>–</a:t>
            </a:r>
            <a:r>
              <a:rPr lang="en-US" sz="1050" dirty="0" smtClean="0"/>
              <a:t>Category - Party  </a:t>
            </a:r>
            <a:endParaRPr lang="en-US" sz="1050" dirty="0"/>
          </a:p>
        </p:txBody>
      </p:sp>
      <p:sp>
        <p:nvSpPr>
          <p:cNvPr id="57" name="Rounded Rectangle 56"/>
          <p:cNvSpPr/>
          <p:nvPr/>
        </p:nvSpPr>
        <p:spPr>
          <a:xfrm>
            <a:off x="2949332" y="93323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47913" y="940111"/>
            <a:ext cx="919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Party Name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49332" y="129607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647913" y="1302948"/>
            <a:ext cx="919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9647339" y="5897461"/>
            <a:ext cx="1300294" cy="5452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0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8781" y="1861197"/>
            <a:ext cx="11532792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18781" y="2112866"/>
          <a:ext cx="11532792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674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1573089130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4172837177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Firm/Third/Debt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Actions View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Amir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01-05-2021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Derby</a:t>
                      </a:r>
                      <a:r>
                        <a:rPr lang="en-AE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Debt Collector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949695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489005"/>
            <a:ext cx="280744" cy="229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800548"/>
            <a:ext cx="280744" cy="2290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596" y="4020412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Case Listed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Click r:id="rId3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Case</a:t>
            </a:r>
            <a:endParaRPr lang="en-US" sz="1200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8782" y="4272080"/>
          <a:ext cx="11500273" cy="910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5005">
                  <a:extLst>
                    <a:ext uri="{9D8B030D-6E8A-4147-A177-3AD203B41FA5}">
                      <a16:colId xmlns:a16="http://schemas.microsoft.com/office/drawing/2014/main" val="4186502452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1184146345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407192668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1169666689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458357069"/>
                    </a:ext>
                  </a:extLst>
                </a:gridCol>
              </a:tblGrid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Mode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 Date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 Amount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71801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C590/2019, 990/2018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 Petition</a:t>
                      </a:r>
                      <a:endParaRPr lang="en-AE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6114835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2462/2020,2215/2018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311876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343" y="4613967"/>
            <a:ext cx="231856" cy="2113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887" y="4613602"/>
            <a:ext cx="205145" cy="2117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661" y="4619978"/>
            <a:ext cx="225926" cy="20538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805" y="4890609"/>
            <a:ext cx="231856" cy="2113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349" y="4890244"/>
            <a:ext cx="205145" cy="2117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123" y="4896620"/>
            <a:ext cx="225926" cy="20538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8833" y="2478973"/>
            <a:ext cx="283516" cy="239060"/>
          </a:xfrm>
          <a:prstGeom prst="rect">
            <a:avLst/>
          </a:prstGeom>
        </p:spPr>
      </p:pic>
      <p:pic>
        <p:nvPicPr>
          <p:cNvPr id="26" name="Picture 2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165" y="2783415"/>
            <a:ext cx="283516" cy="239060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10800000">
            <a:off x="436228" y="1518406"/>
            <a:ext cx="469783" cy="226503"/>
          </a:xfrm>
          <a:prstGeom prst="rightArrow">
            <a:avLst>
              <a:gd name="adj1" fmla="val 7222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hlinkClick r:id="rId8" action="ppaction://hlinksldjump"/>
          </p:cNvPr>
          <p:cNvSpPr txBox="1"/>
          <p:nvPr/>
        </p:nvSpPr>
        <p:spPr>
          <a:xfrm>
            <a:off x="511728" y="1508546"/>
            <a:ext cx="2097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</a:rPr>
              <a:t>Back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318781" y="1442906"/>
            <a:ext cx="755010" cy="4182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77505" y="479036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LLC</a:t>
            </a:r>
            <a:endParaRPr lang="en-US" sz="1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7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 smtClean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 err="1">
                          <a:effectLst/>
                        </a:rPr>
                        <a:t>Aneesh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Dubco</a:t>
                      </a:r>
                      <a:r>
                        <a:rPr lang="en-US" sz="700" u="none" strike="noStrike" dirty="0">
                          <a:effectLst/>
                        </a:rPr>
                        <a:t> Contracting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Robodh</a:t>
                      </a:r>
                      <a:r>
                        <a:rPr lang="en-US" sz="700" u="none" strike="noStrike" dirty="0">
                          <a:effectLst/>
                        </a:rPr>
                        <a:t> Contracting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74,677.00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Dinesh (</a:t>
                      </a:r>
                      <a:r>
                        <a:rPr lang="en-US" sz="700" u="none" strike="noStrike" dirty="0" err="1">
                          <a:effectLst/>
                        </a:rPr>
                        <a:t>Tihird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Pary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19,865.50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245866" y="3016275"/>
            <a:ext cx="264620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9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Derby Debt Collection (Debt Collection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Al Kabban &amp; Associates (Legal Firm)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Close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74,677.00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Dinesh (Tihird Pary)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3857907" y="1203338"/>
            <a:ext cx="6742600" cy="412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137729" y="1863686"/>
            <a:ext cx="4645753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sz="1050" dirty="0" smtClean="0">
                <a:solidFill>
                  <a:srgbClr val="000000"/>
                </a:solidFill>
                <a:latin typeface="Calibri" panose="020F0502020204030204" pitchFamily="34" charset="0"/>
              </a:rPr>
              <a:t>Legal Firm</a:t>
            </a:r>
            <a:endParaRPr lang="en-AE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138727" y="2329554"/>
            <a:ext cx="4667265" cy="29729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r>
              <a:rPr lang="en-AE" sz="1050" dirty="0">
                <a:solidFill>
                  <a:schemeClr val="tx1"/>
                </a:solidFill>
              </a:rPr>
              <a:t>Al Shafar &amp; Associate</a:t>
            </a:r>
            <a:endParaRPr lang="en-AE" sz="105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88470" y="1885434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Category 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4088470" y="2353092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Firm/Party</a:t>
            </a:r>
            <a:endParaRPr lang="en-US" sz="1200" dirty="0"/>
          </a:p>
        </p:txBody>
      </p:sp>
      <p:sp>
        <p:nvSpPr>
          <p:cNvPr id="54" name="Rectangle 53">
            <a:hlinkClick r:id="rId9" action="ppaction://hlinksldjump"/>
          </p:cNvPr>
          <p:cNvSpPr/>
          <p:nvPr/>
        </p:nvSpPr>
        <p:spPr>
          <a:xfrm>
            <a:off x="8759091" y="4805250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Shifted</a:t>
            </a:r>
            <a:endParaRPr lang="en-US" sz="1200" b="1" dirty="0"/>
          </a:p>
        </p:txBody>
      </p:sp>
      <p:sp>
        <p:nvSpPr>
          <p:cNvPr id="56" name="Rectangle 55"/>
          <p:cNvSpPr/>
          <p:nvPr/>
        </p:nvSpPr>
        <p:spPr>
          <a:xfrm>
            <a:off x="5133507" y="2850085"/>
            <a:ext cx="4645754" cy="3169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01-01-2023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039368" y="2869666"/>
            <a:ext cx="99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Shifted Date</a:t>
            </a:r>
            <a:endParaRPr lang="en-US" sz="1200" dirty="0"/>
          </a:p>
        </p:txBody>
      </p:sp>
      <p:sp>
        <p:nvSpPr>
          <p:cNvPr id="63" name="Oval 62"/>
          <p:cNvSpPr/>
          <p:nvPr/>
        </p:nvSpPr>
        <p:spPr>
          <a:xfrm>
            <a:off x="8354676" y="4533232"/>
            <a:ext cx="2427006" cy="8471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ent Arrow 1"/>
          <p:cNvSpPr/>
          <p:nvPr/>
        </p:nvSpPr>
        <p:spPr>
          <a:xfrm rot="5400000">
            <a:off x="10811157" y="2292118"/>
            <a:ext cx="414796" cy="836096"/>
          </a:xfrm>
          <a:prstGeom prst="bentArrow">
            <a:avLst>
              <a:gd name="adj1" fmla="val 25000"/>
              <a:gd name="adj2" fmla="val 17006"/>
              <a:gd name="adj3" fmla="val 25000"/>
              <a:gd name="adj4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98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749275"/>
              </p:ext>
            </p:extLst>
          </p:nvPr>
        </p:nvGraphicFramePr>
        <p:xfrm>
          <a:off x="369116" y="2561741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7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7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  <a:endParaRPr lang="en-AE" sz="7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74,677.00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Dinesh (Tihird Pary)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19,865.50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63,803.00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" name="Oval 3">
            <a:hlinkClick r:id="rId9" action="ppaction://hlinksldjump"/>
          </p:cNvPr>
          <p:cNvSpPr/>
          <p:nvPr/>
        </p:nvSpPr>
        <p:spPr>
          <a:xfrm>
            <a:off x="1413968" y="3016275"/>
            <a:ext cx="1127896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8781" y="1861197"/>
            <a:ext cx="11532792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65855"/>
              </p:ext>
            </p:extLst>
          </p:nvPr>
        </p:nvGraphicFramePr>
        <p:xfrm>
          <a:off x="318781" y="2112866"/>
          <a:ext cx="11532792" cy="1274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674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1573089130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4172837177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Firm/Third/Debt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Actions View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Amir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01-05-2021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Derby</a:t>
                      </a:r>
                      <a:r>
                        <a:rPr lang="en-AE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Debt Collector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01-01-2023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949695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effectLst/>
                        </a:rPr>
                        <a:t> Shafar &amp; Associate</a:t>
                      </a:r>
                      <a:endParaRPr lang="en-AE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01-01-2023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489005"/>
            <a:ext cx="280744" cy="229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800548"/>
            <a:ext cx="280744" cy="2290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596" y="4020412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Case Listed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Click r:id="rId3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Case</a:t>
            </a:r>
            <a:endParaRPr lang="en-US" sz="1200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8782" y="4272080"/>
          <a:ext cx="11500273" cy="910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5005">
                  <a:extLst>
                    <a:ext uri="{9D8B030D-6E8A-4147-A177-3AD203B41FA5}">
                      <a16:colId xmlns:a16="http://schemas.microsoft.com/office/drawing/2014/main" val="4186502452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1184146345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407192668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1169666689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458357069"/>
                    </a:ext>
                  </a:extLst>
                </a:gridCol>
              </a:tblGrid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Mode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 Date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 Amount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71801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C590/2019, 990/2018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 Petition</a:t>
                      </a:r>
                      <a:endParaRPr lang="en-AE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6114835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2462/2020,2215/2018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311876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343" y="4613967"/>
            <a:ext cx="231856" cy="2113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887" y="4613602"/>
            <a:ext cx="205145" cy="2117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661" y="4619978"/>
            <a:ext cx="225926" cy="20538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805" y="4890609"/>
            <a:ext cx="231856" cy="2113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349" y="4890244"/>
            <a:ext cx="205145" cy="2117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123" y="4896620"/>
            <a:ext cx="225926" cy="20538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8833" y="2478973"/>
            <a:ext cx="283516" cy="239060"/>
          </a:xfrm>
          <a:prstGeom prst="rect">
            <a:avLst/>
          </a:prstGeom>
        </p:spPr>
      </p:pic>
      <p:pic>
        <p:nvPicPr>
          <p:cNvPr id="26" name="Picture 2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165" y="2783415"/>
            <a:ext cx="283516" cy="239060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10800000">
            <a:off x="436228" y="1518406"/>
            <a:ext cx="469783" cy="226503"/>
          </a:xfrm>
          <a:prstGeom prst="rightArrow">
            <a:avLst>
              <a:gd name="adj1" fmla="val 7222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1728" y="1508546"/>
            <a:ext cx="2097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</a:rPr>
              <a:t>Back</a:t>
            </a:r>
            <a:endParaRPr lang="en-US" sz="1000" b="1" dirty="0">
              <a:solidFill>
                <a:schemeClr val="bg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3101063"/>
            <a:ext cx="280744" cy="229028"/>
          </a:xfrm>
          <a:prstGeom prst="rect">
            <a:avLst/>
          </a:prstGeom>
        </p:spPr>
      </p:pic>
      <p:pic>
        <p:nvPicPr>
          <p:cNvPr id="27" name="Picture 26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165" y="3083930"/>
            <a:ext cx="283516" cy="2390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1088790" y="3092496"/>
            <a:ext cx="400155" cy="2390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77505" y="479036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LLC</a:t>
            </a:r>
            <a:endParaRPr lang="en-US" sz="1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03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984" y="509989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Anju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Marketing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/>
              <a:t>Al Rajhi Construction LLC</a:t>
            </a:r>
            <a:endParaRPr lang="en-US" sz="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Client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dirty="0" smtClean="0">
                <a:solidFill>
                  <a:srgbClr val="656D78"/>
                </a:solidFill>
                <a:latin typeface="Arial" panose="020B0604020202020204" pitchFamily="34" charset="0"/>
              </a:rPr>
              <a:t>Legal Firm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Category</a:t>
            </a:r>
            <a:endParaRPr lang="en-US" sz="10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526011" y="4875842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83589" y="4344641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141" y="4517293"/>
            <a:ext cx="971600" cy="27941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89" y="4927443"/>
            <a:ext cx="268988" cy="1050333"/>
          </a:xfrm>
          <a:prstGeom prst="rect">
            <a:avLst/>
          </a:prstGeom>
        </p:spPr>
      </p:pic>
      <p:pic>
        <p:nvPicPr>
          <p:cNvPr id="63" name="Picture 62" descr="forms - &lt;strong&gt;Submit&lt;/strong&gt; and Reset &lt;strong&gt;button&lt;/strong&gt;, what's the best order? - User ...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/>
              <a:t>Al Shafar &amp; Associate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Firm/Party/Debt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2810313"/>
            <a:ext cx="3591613" cy="83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7" y="279496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6" action="ppaction://hlinksldjump"/>
          </p:cNvPr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Client Documents</a:t>
            </a:r>
            <a:endParaRPr lang="en-US" sz="1050" dirty="0"/>
          </a:p>
        </p:txBody>
      </p:sp>
      <p:sp>
        <p:nvSpPr>
          <p:cNvPr id="2" name="Line Callout 3 (No Border) 1"/>
          <p:cNvSpPr/>
          <p:nvPr/>
        </p:nvSpPr>
        <p:spPr>
          <a:xfrm>
            <a:off x="5266998" y="1853559"/>
            <a:ext cx="1144407" cy="674265"/>
          </a:xfrm>
          <a:prstGeom prst="callout3">
            <a:avLst>
              <a:gd name="adj1" fmla="val 51645"/>
              <a:gd name="adj2" fmla="val -62"/>
              <a:gd name="adj3" fmla="val 37738"/>
              <a:gd name="adj4" fmla="val -16165"/>
              <a:gd name="adj5" fmla="val 61306"/>
              <a:gd name="adj6" fmla="val -11905"/>
              <a:gd name="adj7" fmla="val 40321"/>
              <a:gd name="adj8" fmla="val -2261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84445" y="1937555"/>
            <a:ext cx="10698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Third Party</a:t>
            </a:r>
          </a:p>
          <a:p>
            <a:r>
              <a:rPr lang="en-US" sz="1050" dirty="0" smtClean="0"/>
              <a:t>Debt Collector</a:t>
            </a:r>
            <a:br>
              <a:rPr lang="en-US" sz="1050" dirty="0" smtClean="0"/>
            </a:br>
            <a:r>
              <a:rPr lang="en-US" sz="1050" dirty="0" smtClean="0"/>
              <a:t>Legal Firm</a:t>
            </a:r>
            <a:endParaRPr lang="en-US" sz="1050" dirty="0"/>
          </a:p>
        </p:txBody>
      </p:sp>
      <p:sp>
        <p:nvSpPr>
          <p:cNvPr id="70" name="Rectangle 69"/>
          <p:cNvSpPr/>
          <p:nvPr/>
        </p:nvSpPr>
        <p:spPr>
          <a:xfrm>
            <a:off x="6678544" y="1057419"/>
            <a:ext cx="4948762" cy="1485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1074796"/>
            <a:ext cx="276264" cy="2476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30118" y="1057655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OUT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E6AD4B"/>
                </a:solidFill>
              </a:rPr>
              <a:t>STANDING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927023" y="131526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87116" y="1231079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75" name="TextBox 74"/>
          <p:cNvSpPr txBox="1"/>
          <p:nvPr/>
        </p:nvSpPr>
        <p:spPr>
          <a:xfrm>
            <a:off x="6787116" y="1667551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6787116" y="2108700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77" name="Rectangle 76"/>
          <p:cNvSpPr/>
          <p:nvPr/>
        </p:nvSpPr>
        <p:spPr>
          <a:xfrm>
            <a:off x="7927023" y="1693407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7023" y="212285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2603057"/>
            <a:ext cx="276264" cy="2476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930118" y="258591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185268"/>
            <a:ext cx="276264" cy="2476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30118" y="3168127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BALANCE CLAIM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927023" y="284269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927023" y="3474456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894330"/>
            <a:ext cx="276264" cy="2476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30118" y="3877189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EXPENSE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927023" y="4183518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89" name="TextBox 88">
            <a:hlinkClick r:id="rId8" action="ppaction://hlinksldjump"/>
          </p:cNvPr>
          <p:cNvSpPr txBox="1"/>
          <p:nvPr/>
        </p:nvSpPr>
        <p:spPr>
          <a:xfrm>
            <a:off x="5340283" y="392013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Commission</a:t>
            </a:r>
            <a:endParaRPr lang="en-US" sz="1050" dirty="0"/>
          </a:p>
        </p:txBody>
      </p:sp>
      <p:sp>
        <p:nvSpPr>
          <p:cNvPr id="7" name="Oval 6"/>
          <p:cNvSpPr/>
          <p:nvPr/>
        </p:nvSpPr>
        <p:spPr>
          <a:xfrm>
            <a:off x="5285543" y="341239"/>
            <a:ext cx="1124581" cy="3450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 Firm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405021" y="387291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 dirty="0" smtClean="0"/>
              <a:t>Closed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7584" y="3881339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Status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576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Client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18" y="1732295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Commission Slab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Commission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94691" y="1721569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Days</a:t>
            </a:r>
            <a:endParaRPr lang="en-US" sz="800" dirty="0">
              <a:latin typeface="+mj-lt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23132" y="172149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3272" y="1728446"/>
            <a:ext cx="7769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Above</a:t>
            </a:r>
            <a:endParaRPr lang="en-US" sz="1050" dirty="0"/>
          </a:p>
        </p:txBody>
      </p:sp>
      <p:sp>
        <p:nvSpPr>
          <p:cNvPr id="45" name="Rounded Rectangle 44"/>
          <p:cNvSpPr/>
          <p:nvPr/>
        </p:nvSpPr>
        <p:spPr>
          <a:xfrm>
            <a:off x="2994691" y="216936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Days</a:t>
            </a:r>
            <a:endParaRPr lang="en-US" sz="800" dirty="0">
              <a:latin typeface="+mj-lt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423131" y="216936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93272" y="2167269"/>
            <a:ext cx="7769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Below</a:t>
            </a:r>
            <a:endParaRPr lang="en-US" sz="1050" dirty="0"/>
          </a:p>
        </p:txBody>
      </p:sp>
      <p:sp>
        <p:nvSpPr>
          <p:cNvPr id="49" name="Rounded Rectangle 48"/>
          <p:cNvSpPr/>
          <p:nvPr/>
        </p:nvSpPr>
        <p:spPr>
          <a:xfrm>
            <a:off x="7423130" y="255916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93272" y="2555315"/>
            <a:ext cx="11249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 smtClean="0"/>
              <a:t>Cheque</a:t>
            </a:r>
            <a:r>
              <a:rPr lang="en-US" sz="1050" dirty="0" smtClean="0"/>
              <a:t> on Hold </a:t>
            </a:r>
            <a:endParaRPr lang="en-US" sz="1050" dirty="0"/>
          </a:p>
        </p:txBody>
      </p:sp>
      <p:sp>
        <p:nvSpPr>
          <p:cNvPr id="52" name="Rounded Rectangle 51"/>
          <p:cNvSpPr/>
          <p:nvPr/>
        </p:nvSpPr>
        <p:spPr>
          <a:xfrm>
            <a:off x="7423130" y="298678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93271" y="2902141"/>
            <a:ext cx="12560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Dishonored </a:t>
            </a:r>
            <a:r>
              <a:rPr lang="en-US" sz="1050" dirty="0" err="1" smtClean="0"/>
              <a:t>Cheques</a:t>
            </a:r>
            <a:r>
              <a:rPr lang="en-US" sz="1050" dirty="0" smtClean="0"/>
              <a:t> </a:t>
            </a:r>
            <a:endParaRPr lang="en-US" sz="1050" dirty="0"/>
          </a:p>
        </p:txBody>
      </p:sp>
      <p:sp>
        <p:nvSpPr>
          <p:cNvPr id="55" name="Rounded Rectangle 54"/>
          <p:cNvSpPr/>
          <p:nvPr/>
        </p:nvSpPr>
        <p:spPr>
          <a:xfrm>
            <a:off x="7436360" y="345013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Percentage</a:t>
            </a:r>
            <a:endParaRPr lang="en-US" sz="800" dirty="0">
              <a:latin typeface="+mj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93271" y="3419683"/>
            <a:ext cx="12560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Case already with Legal</a:t>
            </a:r>
            <a:endParaRPr 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1216404" y="4890782"/>
            <a:ext cx="49159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Note : Client </a:t>
            </a:r>
            <a:r>
              <a:rPr lang="en-AE" sz="1050" dirty="0" smtClean="0"/>
              <a:t>–</a:t>
            </a:r>
            <a:r>
              <a:rPr lang="en-US" sz="1050" dirty="0" smtClean="0"/>
              <a:t>Category - Party  </a:t>
            </a:r>
            <a:endParaRPr lang="en-US" sz="1050" dirty="0"/>
          </a:p>
        </p:txBody>
      </p:sp>
      <p:sp>
        <p:nvSpPr>
          <p:cNvPr id="57" name="Rounded Rectangle 56"/>
          <p:cNvSpPr/>
          <p:nvPr/>
        </p:nvSpPr>
        <p:spPr>
          <a:xfrm>
            <a:off x="2949332" y="933234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47913" y="940111"/>
            <a:ext cx="919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Party Name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49332" y="129607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647913" y="1302948"/>
            <a:ext cx="919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9647339" y="5897461"/>
            <a:ext cx="1300294" cy="5452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 Firm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18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8781" y="1861197"/>
            <a:ext cx="11532792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18781" y="2112866"/>
          <a:ext cx="11532792" cy="1274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674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1573089130"/>
                    </a:ext>
                  </a:extLst>
                </a:gridCol>
                <a:gridCol w="1121706">
                  <a:extLst>
                    <a:ext uri="{9D8B030D-6E8A-4147-A177-3AD203B41FA5}">
                      <a16:colId xmlns:a16="http://schemas.microsoft.com/office/drawing/2014/main" val="4172837177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Firm/Third/Debt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</a:t>
                      </a:r>
                      <a:r>
                        <a:rPr lang="en-AE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Date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Actions View</a:t>
                      </a:r>
                      <a:endParaRPr lang="en-A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Amir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01-05-2021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Derby</a:t>
                      </a:r>
                      <a:r>
                        <a:rPr lang="en-AE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Debt Collector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30-10-2021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01-01-2023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949695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effectLst/>
                        </a:rPr>
                        <a:t> Shafar &amp; Associate</a:t>
                      </a:r>
                      <a:endParaRPr lang="en-AE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01-01-2023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489005"/>
            <a:ext cx="280744" cy="229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2800548"/>
            <a:ext cx="280744" cy="2290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596" y="4020412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Case Listed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Click r:id="rId3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Case</a:t>
            </a:r>
            <a:endParaRPr lang="en-US" sz="1200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8782" y="4272080"/>
          <a:ext cx="11500273" cy="910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5005">
                  <a:extLst>
                    <a:ext uri="{9D8B030D-6E8A-4147-A177-3AD203B41FA5}">
                      <a16:colId xmlns:a16="http://schemas.microsoft.com/office/drawing/2014/main" val="4186502452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1184146345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407192668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1169666689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458357069"/>
                    </a:ext>
                  </a:extLst>
                </a:gridCol>
              </a:tblGrid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Mode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 Date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 Amount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71801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C590/2019, 990/2018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 Petition</a:t>
                      </a:r>
                      <a:endParaRPr lang="en-AE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6114835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2462/2020,2215/2018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311876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343" y="4613967"/>
            <a:ext cx="231856" cy="2113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887" y="4613602"/>
            <a:ext cx="205145" cy="2117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661" y="4619978"/>
            <a:ext cx="225926" cy="20538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805" y="4890609"/>
            <a:ext cx="231856" cy="2113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412349" y="4890244"/>
            <a:ext cx="205145" cy="2117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123" y="4896620"/>
            <a:ext cx="225926" cy="20538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8833" y="2478973"/>
            <a:ext cx="283516" cy="239060"/>
          </a:xfrm>
          <a:prstGeom prst="rect">
            <a:avLst/>
          </a:prstGeom>
        </p:spPr>
      </p:pic>
      <p:pic>
        <p:nvPicPr>
          <p:cNvPr id="26" name="Picture 2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165" y="2783415"/>
            <a:ext cx="283516" cy="239060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10800000">
            <a:off x="436228" y="1518406"/>
            <a:ext cx="469783" cy="226503"/>
          </a:xfrm>
          <a:prstGeom prst="rightArrow">
            <a:avLst>
              <a:gd name="adj1" fmla="val 7222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1728" y="1508546"/>
            <a:ext cx="2097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</a:rPr>
              <a:t>Back</a:t>
            </a:r>
            <a:endParaRPr lang="en-US" sz="1000" b="1" dirty="0">
              <a:solidFill>
                <a:schemeClr val="bg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74" y="3101063"/>
            <a:ext cx="280744" cy="22902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165" y="3083930"/>
            <a:ext cx="283516" cy="2390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77505" y="479036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LLC</a:t>
            </a:r>
            <a:endParaRPr lang="en-US" sz="1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02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5" y="377402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>
                <a:solidFill>
                  <a:srgbClr val="000000"/>
                </a:solidFill>
                <a:latin typeface="Calibri" panose="020F0502020204030204" pitchFamily="34" charset="0"/>
              </a:rPr>
              <a:t>C590/2019, 990/2018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Case No</a:t>
            </a:r>
            <a:endParaRPr lang="en-US" sz="10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22258"/>
              </p:ext>
            </p:extLst>
          </p:nvPr>
        </p:nvGraphicFramePr>
        <p:xfrm>
          <a:off x="5668232" y="4731300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556496" y="4423076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90" y="4389600"/>
            <a:ext cx="971600" cy="27941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812" y="4739444"/>
            <a:ext cx="268988" cy="1050333"/>
          </a:xfrm>
          <a:prstGeom prst="rect">
            <a:avLst/>
          </a:prstGeom>
        </p:spPr>
      </p:pic>
      <p:pic>
        <p:nvPicPr>
          <p:cNvPr id="63" name="Picture 62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388825" y="2439938"/>
            <a:ext cx="3591613" cy="83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9" y="243767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5" action="ppaction://hlinksldjump"/>
          </p:cNvPr>
          <p:cNvSpPr txBox="1"/>
          <p:nvPr/>
        </p:nvSpPr>
        <p:spPr>
          <a:xfrm>
            <a:off x="2949332" y="397147"/>
            <a:ext cx="2151174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Case Documents</a:t>
            </a:r>
            <a:endParaRPr lang="en-US" sz="1050" dirty="0"/>
          </a:p>
        </p:txBody>
      </p:sp>
      <p:sp>
        <p:nvSpPr>
          <p:cNvPr id="70" name="Rectangle 69"/>
          <p:cNvSpPr/>
          <p:nvPr/>
        </p:nvSpPr>
        <p:spPr>
          <a:xfrm>
            <a:off x="6678544" y="1057419"/>
            <a:ext cx="4948762" cy="1485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966" y="1074796"/>
            <a:ext cx="276264" cy="2476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30118" y="1057655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TOTAL 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927023" y="131526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87116" y="1231079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75" name="TextBox 74"/>
          <p:cNvSpPr txBox="1"/>
          <p:nvPr/>
        </p:nvSpPr>
        <p:spPr>
          <a:xfrm>
            <a:off x="6787116" y="1667551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6787116" y="2108700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77" name="Rectangle 76"/>
          <p:cNvSpPr/>
          <p:nvPr/>
        </p:nvSpPr>
        <p:spPr>
          <a:xfrm>
            <a:off x="7927023" y="1693407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7023" y="212285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966" y="2603057"/>
            <a:ext cx="276264" cy="2476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930118" y="258591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CASE 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966" y="3052412"/>
            <a:ext cx="276264" cy="2476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30118" y="3035271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RECEIVED CLAIM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7982" y="3430531"/>
            <a:ext cx="276264" cy="2476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27134" y="3413390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BALANCE CLAIM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100506" y="39248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Hearing Date and Feed back</a:t>
            </a:r>
            <a:endParaRPr lang="en-US" sz="1050" dirty="0"/>
          </a:p>
        </p:txBody>
      </p:sp>
      <p:sp>
        <p:nvSpPr>
          <p:cNvPr id="44" name="Rounded Rectangle 43"/>
          <p:cNvSpPr/>
          <p:nvPr/>
        </p:nvSpPr>
        <p:spPr>
          <a:xfrm>
            <a:off x="1387790" y="168950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</a:rPr>
              <a:t>Direct </a:t>
            </a:r>
            <a:r>
              <a:rPr lang="en-US" sz="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Petition (</a:t>
            </a:r>
            <a:r>
              <a:rPr lang="en-US" sz="8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Amarada</a:t>
            </a:r>
            <a:r>
              <a:rPr lang="en-US" sz="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5683" y="1689501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Case Mode</a:t>
            </a:r>
            <a:endParaRPr lang="en-US" sz="1000" dirty="0"/>
          </a:p>
        </p:txBody>
      </p:sp>
      <p:sp>
        <p:nvSpPr>
          <p:cNvPr id="46" name="Rounded Rectangle 45"/>
          <p:cNvSpPr/>
          <p:nvPr/>
        </p:nvSpPr>
        <p:spPr>
          <a:xfrm>
            <a:off x="1387638" y="2015871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25-01-2023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5531" y="2015871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Case Date</a:t>
            </a:r>
            <a:endParaRPr lang="en-US" sz="1000" dirty="0"/>
          </a:p>
        </p:txBody>
      </p:sp>
      <p:sp>
        <p:nvSpPr>
          <p:cNvPr id="49" name="Rectangle 48"/>
          <p:cNvSpPr/>
          <p:nvPr/>
        </p:nvSpPr>
        <p:spPr>
          <a:xfrm>
            <a:off x="8685095" y="2625529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685095" y="305332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683987" y="344812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7982" y="3815759"/>
            <a:ext cx="276264" cy="2476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927134" y="3798618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EXPENSE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683987" y="3833348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92706" y="396285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Expense</a:t>
            </a:r>
            <a:endParaRPr lang="en-US" sz="1050" dirty="0"/>
          </a:p>
        </p:txBody>
      </p:sp>
      <p:sp>
        <p:nvSpPr>
          <p:cNvPr id="57" name="Line Callout 3 (No Border) 56"/>
          <p:cNvSpPr/>
          <p:nvPr/>
        </p:nvSpPr>
        <p:spPr>
          <a:xfrm>
            <a:off x="5250321" y="1502147"/>
            <a:ext cx="1144407" cy="674265"/>
          </a:xfrm>
          <a:prstGeom prst="callout3">
            <a:avLst>
              <a:gd name="adj1" fmla="val 51645"/>
              <a:gd name="adj2" fmla="val -62"/>
              <a:gd name="adj3" fmla="val 37738"/>
              <a:gd name="adj4" fmla="val -16165"/>
              <a:gd name="adj5" fmla="val 61306"/>
              <a:gd name="adj6" fmla="val -11905"/>
              <a:gd name="adj7" fmla="val 40321"/>
              <a:gd name="adj8" fmla="val -2261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 smtClean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 smtClean="0">
                <a:solidFill>
                  <a:schemeClr val="tx1"/>
                </a:solidFill>
              </a:rPr>
              <a:t>1-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Direct </a:t>
            </a:r>
            <a:r>
              <a:rPr lang="en-US" sz="1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Petition (</a:t>
            </a:r>
            <a:r>
              <a:rPr lang="en-US" sz="1000" dirty="0" err="1" smtClean="0">
                <a:solidFill>
                  <a:schemeClr val="tx1"/>
                </a:solidFill>
                <a:latin typeface="Calibri" panose="020F0502020204030204" pitchFamily="34" charset="0"/>
              </a:rPr>
              <a:t>Amarada</a:t>
            </a:r>
            <a:r>
              <a:rPr lang="en-US" sz="1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2-Civil Case</a:t>
            </a:r>
            <a:endParaRPr lang="en-AE" sz="1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435531" y="4669014"/>
            <a:ext cx="738071" cy="31129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/>
              <a:t>+ Upload Cheque</a:t>
            </a:r>
            <a:endParaRPr lang="en-US" sz="800" b="1" dirty="0"/>
          </a:p>
        </p:txBody>
      </p:sp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813630"/>
              </p:ext>
            </p:extLst>
          </p:nvPr>
        </p:nvGraphicFramePr>
        <p:xfrm>
          <a:off x="353709" y="3411642"/>
          <a:ext cx="6087207" cy="830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5844">
                  <a:extLst>
                    <a:ext uri="{9D8B030D-6E8A-4147-A177-3AD203B41FA5}">
                      <a16:colId xmlns:a16="http://schemas.microsoft.com/office/drawing/2014/main" val="2431379919"/>
                    </a:ext>
                  </a:extLst>
                </a:gridCol>
                <a:gridCol w="3638747">
                  <a:extLst>
                    <a:ext uri="{9D8B030D-6E8A-4147-A177-3AD203B41FA5}">
                      <a16:colId xmlns:a16="http://schemas.microsoft.com/office/drawing/2014/main" val="3907942742"/>
                    </a:ext>
                  </a:extLst>
                </a:gridCol>
                <a:gridCol w="1072616">
                  <a:extLst>
                    <a:ext uri="{9D8B030D-6E8A-4147-A177-3AD203B41FA5}">
                      <a16:colId xmlns:a16="http://schemas.microsoft.com/office/drawing/2014/main" val="1050531276"/>
                    </a:ext>
                  </a:extLst>
                </a:gridCol>
              </a:tblGrid>
              <a:tr h="2077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Cheque date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Amount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Documents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5127873"/>
                  </a:ext>
                </a:extLst>
              </a:tr>
              <a:tr h="207702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83446451"/>
                  </a:ext>
                </a:extLst>
              </a:tr>
              <a:tr h="207702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869325"/>
                  </a:ext>
                </a:extLst>
              </a:tr>
              <a:tr h="207702"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r>
                        <a:rPr lang="en-AE" sz="900" u="none" strike="noStrike" dirty="0" smtClean="0">
                          <a:effectLst/>
                        </a:rPr>
                        <a:t>Total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14347732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2818245" y="276837"/>
            <a:ext cx="1158137" cy="5201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27729" y="5524075"/>
            <a:ext cx="4917369" cy="31129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/>
              <a:t>Client Documents</a:t>
            </a:r>
            <a:endParaRPr lang="en-US" sz="800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7382223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Expense</a:t>
            </a:r>
            <a:endParaRPr lang="en-US" sz="1050" dirty="0"/>
          </a:p>
        </p:txBody>
      </p:sp>
      <p:sp>
        <p:nvSpPr>
          <p:cNvPr id="89" name="TextBox 88"/>
          <p:cNvSpPr txBox="1"/>
          <p:nvPr/>
        </p:nvSpPr>
        <p:spPr>
          <a:xfrm>
            <a:off x="9760361" y="397147"/>
            <a:ext cx="2091211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Actions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4936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Case Documents</a:t>
            </a:r>
            <a:endParaRPr lang="en-US" sz="10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76" y="996431"/>
            <a:ext cx="809738" cy="3143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04594" y="4235281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Description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55707"/>
              </p:ext>
            </p:extLst>
          </p:nvPr>
        </p:nvGraphicFramePr>
        <p:xfrm>
          <a:off x="304594" y="4496210"/>
          <a:ext cx="11546977" cy="956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5480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3993160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1818337">
                  <a:extLst>
                    <a:ext uri="{9D8B030D-6E8A-4147-A177-3AD203B41FA5}">
                      <a16:colId xmlns:a16="http://schemas.microsoft.com/office/drawing/2014/main" val="1322369915"/>
                    </a:ext>
                  </a:extLst>
                </a:gridCol>
              </a:tblGrid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smtClean="0">
                          <a:effectLst/>
                        </a:rPr>
                        <a:t>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8674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sp>
        <p:nvSpPr>
          <p:cNvPr id="37" name="TextBox 36">
            <a:hlinkClick r:id="rId5" action="ppaction://hlinksldjump"/>
          </p:cNvPr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Hearing Date and Feed back</a:t>
            </a:r>
            <a:endParaRPr lang="en-US" sz="1050" dirty="0"/>
          </a:p>
        </p:txBody>
      </p:sp>
      <p:sp>
        <p:nvSpPr>
          <p:cNvPr id="38" name="TextBox 37"/>
          <p:cNvSpPr txBox="1"/>
          <p:nvPr/>
        </p:nvSpPr>
        <p:spPr>
          <a:xfrm>
            <a:off x="7714456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Expanse</a:t>
            </a:r>
            <a:endParaRPr lang="en-US" sz="105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7697" y="4867027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7"/>
          <a:srcRect l="2841" t="-3417" r="-2841" b="-6024"/>
          <a:stretch/>
        </p:blipFill>
        <p:spPr>
          <a:xfrm>
            <a:off x="10987241" y="4866662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015" y="4873038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7697" y="5157181"/>
            <a:ext cx="231856" cy="21530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7"/>
          <a:srcRect l="2841" t="-3417" r="-2841" b="-6024"/>
          <a:stretch/>
        </p:blipFill>
        <p:spPr>
          <a:xfrm>
            <a:off x="10987241" y="5156817"/>
            <a:ext cx="205145" cy="21567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015" y="5163193"/>
            <a:ext cx="225926" cy="209181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551962" y="157352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2919" y="1555464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Date</a:t>
            </a:r>
            <a:endParaRPr lang="en-US" sz="1000" dirty="0"/>
          </a:p>
        </p:txBody>
      </p:sp>
      <p:sp>
        <p:nvSpPr>
          <p:cNvPr id="2" name="Oval 1"/>
          <p:cNvSpPr/>
          <p:nvPr/>
        </p:nvSpPr>
        <p:spPr>
          <a:xfrm>
            <a:off x="5331893" y="259805"/>
            <a:ext cx="1786855" cy="5620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7382223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Expense</a:t>
            </a:r>
            <a:endParaRPr lang="en-US" sz="1050" dirty="0"/>
          </a:p>
        </p:txBody>
      </p:sp>
      <p:sp>
        <p:nvSpPr>
          <p:cNvPr id="48" name="TextBox 47"/>
          <p:cNvSpPr txBox="1"/>
          <p:nvPr/>
        </p:nvSpPr>
        <p:spPr>
          <a:xfrm>
            <a:off x="9760361" y="397147"/>
            <a:ext cx="2091211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Actions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7262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593" y="209608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Hearing Date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59740"/>
              </p:ext>
            </p:extLst>
          </p:nvPr>
        </p:nvGraphicFramePr>
        <p:xfrm>
          <a:off x="304593" y="2363252"/>
          <a:ext cx="11546976" cy="9587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238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676042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5528345">
                  <a:extLst>
                    <a:ext uri="{9D8B030D-6E8A-4147-A177-3AD203B41FA5}">
                      <a16:colId xmlns:a16="http://schemas.microsoft.com/office/drawing/2014/main" val="3121266667"/>
                    </a:ext>
                  </a:extLst>
                </a:gridCol>
                <a:gridCol w="1837189">
                  <a:extLst>
                    <a:ext uri="{9D8B030D-6E8A-4147-A177-3AD203B41FA5}">
                      <a16:colId xmlns:a16="http://schemas.microsoft.com/office/drawing/2014/main" val="1322369915"/>
                    </a:ext>
                  </a:extLst>
                </a:gridCol>
                <a:gridCol w="1189162">
                  <a:extLst>
                    <a:ext uri="{9D8B030D-6E8A-4147-A177-3AD203B41FA5}">
                      <a16:colId xmlns:a16="http://schemas.microsoft.com/office/drawing/2014/main" val="2707522207"/>
                    </a:ext>
                  </a:extLst>
                </a:gridCol>
              </a:tblGrid>
              <a:tr h="3195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Hearing Date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Hearing</a:t>
                      </a:r>
                      <a:r>
                        <a:rPr lang="en-AE" sz="900" b="1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Feedback date</a:t>
                      </a:r>
                      <a:endParaRPr lang="en-AE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Hearing Feed back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Updated by</a:t>
                      </a:r>
                      <a:endParaRPr lang="en-AE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9596">
                <a:tc>
                  <a:txBody>
                    <a:bodyPr/>
                    <a:lstStyle/>
                    <a:p>
                      <a:pPr algn="ctr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25-10-2022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9596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Hearing Date and Feed 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4456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err="1" smtClean="0"/>
              <a:t>Expence</a:t>
            </a:r>
            <a:endParaRPr lang="en-US" sz="1050" dirty="0"/>
          </a:p>
        </p:txBody>
      </p:sp>
      <p:sp>
        <p:nvSpPr>
          <p:cNvPr id="39" name="Rectangle 38">
            <a:hlinkClick r:id="rId5" action="ppaction://hlinksldjump"/>
          </p:cNvPr>
          <p:cNvSpPr/>
          <p:nvPr/>
        </p:nvSpPr>
        <p:spPr>
          <a:xfrm>
            <a:off x="8684732" y="965315"/>
            <a:ext cx="1080053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</a:t>
            </a:r>
            <a:endParaRPr lang="en-US" sz="120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9538" y="2732763"/>
            <a:ext cx="231856" cy="21530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7"/>
          <a:srcRect l="2841" t="-3417" r="-2841" b="-6024"/>
          <a:stretch/>
        </p:blipFill>
        <p:spPr>
          <a:xfrm>
            <a:off x="11319082" y="2732399"/>
            <a:ext cx="205145" cy="215675"/>
          </a:xfrm>
          <a:prstGeom prst="rect">
            <a:avLst/>
          </a:prstGeom>
        </p:spPr>
      </p:pic>
      <p:pic>
        <p:nvPicPr>
          <p:cNvPr id="42" name="Picture 41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0856" y="2738775"/>
            <a:ext cx="225926" cy="20918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9538" y="3034647"/>
            <a:ext cx="231856" cy="215303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7"/>
          <a:srcRect l="2841" t="-3417" r="-2841" b="-6024"/>
          <a:stretch/>
        </p:blipFill>
        <p:spPr>
          <a:xfrm>
            <a:off x="11319082" y="3034283"/>
            <a:ext cx="205145" cy="21567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0856" y="3040659"/>
            <a:ext cx="225926" cy="209181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1100856" y="2732399"/>
            <a:ext cx="218226" cy="2155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9672506" y="5838738"/>
            <a:ext cx="2179063" cy="7885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5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380" y="2035725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087" y="2018007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265" y="2522691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06957" y="255330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&amp;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368" y="259265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00524" y="2586396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3141821"/>
            <a:ext cx="1815335" cy="9343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30" y="3666106"/>
            <a:ext cx="1203539" cy="2693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74906" y="3678945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Team</a:t>
            </a:r>
            <a:endParaRPr lang="en-US" sz="1050" b="1" dirty="0"/>
          </a:p>
        </p:txBody>
      </p:sp>
      <p:sp>
        <p:nvSpPr>
          <p:cNvPr id="17" name="Oval 16">
            <a:hlinkClick r:id="rId8" action="ppaction://hlinksldjump"/>
          </p:cNvPr>
          <p:cNvSpPr/>
          <p:nvPr/>
        </p:nvSpPr>
        <p:spPr>
          <a:xfrm>
            <a:off x="4555222" y="4261607"/>
            <a:ext cx="1711354" cy="66273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6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Hearing Date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6907566" y="1962214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043" y="1900900"/>
            <a:ext cx="1876687" cy="3620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Hearing Date and Feed 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4456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Expense</a:t>
            </a:r>
            <a:endParaRPr lang="en-US" sz="1050" dirty="0"/>
          </a:p>
        </p:txBody>
      </p:sp>
      <p:sp>
        <p:nvSpPr>
          <p:cNvPr id="39" name="Rectangle 38">
            <a:hlinkClick r:id="rId5" action="ppaction://hlinksldjump"/>
          </p:cNvPr>
          <p:cNvSpPr/>
          <p:nvPr/>
        </p:nvSpPr>
        <p:spPr>
          <a:xfrm>
            <a:off x="10231155" y="1893601"/>
            <a:ext cx="1127539" cy="29287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/>
              <a:t>+ Add Documents</a:t>
            </a:r>
            <a:endParaRPr lang="en-US" sz="1000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1551963" y="143259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27-10-2022</a:t>
            </a:r>
            <a:endParaRPr lang="en-US" sz="800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919" y="1334615"/>
            <a:ext cx="1099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Hearing feedback date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1551963" y="1855528"/>
            <a:ext cx="3591613" cy="11704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919" y="1786366"/>
            <a:ext cx="1099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Hearing Feedback</a:t>
            </a:r>
            <a:endParaRPr lang="en-US" sz="1000" dirty="0"/>
          </a:p>
        </p:txBody>
      </p:sp>
      <p:sp>
        <p:nvSpPr>
          <p:cNvPr id="27" name="Rounded Rectangle 26"/>
          <p:cNvSpPr/>
          <p:nvPr/>
        </p:nvSpPr>
        <p:spPr>
          <a:xfrm>
            <a:off x="1551963" y="321188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919" y="3224333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Email Link</a:t>
            </a:r>
            <a:endParaRPr lang="en-US" sz="1000" dirty="0"/>
          </a:p>
        </p:txBody>
      </p:sp>
      <p:sp>
        <p:nvSpPr>
          <p:cNvPr id="29" name="Rounded Rectangle 28"/>
          <p:cNvSpPr/>
          <p:nvPr/>
        </p:nvSpPr>
        <p:spPr>
          <a:xfrm>
            <a:off x="7789043" y="1495786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7566" y="1485970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Date</a:t>
            </a:r>
            <a:endParaRPr lang="en-US" sz="1000" dirty="0"/>
          </a:p>
        </p:txBody>
      </p:sp>
      <p:sp>
        <p:nvSpPr>
          <p:cNvPr id="31" name="Rounded Rectangle 30"/>
          <p:cNvSpPr/>
          <p:nvPr/>
        </p:nvSpPr>
        <p:spPr>
          <a:xfrm>
            <a:off x="1551962" y="381758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Active</a:t>
            </a:r>
            <a:endParaRPr lang="en-US" sz="8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919" y="3805135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Status</a:t>
            </a:r>
            <a:endParaRPr lang="en-US" sz="1000" dirty="0"/>
          </a:p>
        </p:txBody>
      </p:sp>
      <p:sp>
        <p:nvSpPr>
          <p:cNvPr id="2" name="Oval 1"/>
          <p:cNvSpPr/>
          <p:nvPr/>
        </p:nvSpPr>
        <p:spPr>
          <a:xfrm>
            <a:off x="9957436" y="5905644"/>
            <a:ext cx="1674975" cy="53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82223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Expense</a:t>
            </a:r>
            <a:endParaRPr lang="en-US" sz="1050" dirty="0"/>
          </a:p>
        </p:txBody>
      </p:sp>
      <p:sp>
        <p:nvSpPr>
          <p:cNvPr id="34" name="TextBox 33"/>
          <p:cNvSpPr txBox="1"/>
          <p:nvPr/>
        </p:nvSpPr>
        <p:spPr>
          <a:xfrm>
            <a:off x="9760361" y="397147"/>
            <a:ext cx="2091211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Actions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7697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pic>
        <p:nvPicPr>
          <p:cNvPr id="6" name="Picture 5" descr="forms - &lt;strong&gt;Submit&lt;/strong&gt; and Reset &lt;strong&gt;button&lt;/strong&gt;, what's the best order? - Us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593" y="209608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919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Hearing Date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5361143" y="1033928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File Upload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620" y="972614"/>
            <a:ext cx="1876687" cy="362001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47378"/>
              </p:ext>
            </p:extLst>
          </p:nvPr>
        </p:nvGraphicFramePr>
        <p:xfrm>
          <a:off x="304593" y="2363252"/>
          <a:ext cx="11546977" cy="9587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5563">
                  <a:extLst>
                    <a:ext uri="{9D8B030D-6E8A-4147-A177-3AD203B41FA5}">
                      <a16:colId xmlns:a16="http://schemas.microsoft.com/office/drawing/2014/main" val="3099560586"/>
                    </a:ext>
                  </a:extLst>
                </a:gridCol>
                <a:gridCol w="1445979">
                  <a:extLst>
                    <a:ext uri="{9D8B030D-6E8A-4147-A177-3AD203B41FA5}">
                      <a16:colId xmlns:a16="http://schemas.microsoft.com/office/drawing/2014/main" val="3256482068"/>
                    </a:ext>
                  </a:extLst>
                </a:gridCol>
                <a:gridCol w="4769492">
                  <a:extLst>
                    <a:ext uri="{9D8B030D-6E8A-4147-A177-3AD203B41FA5}">
                      <a16:colId xmlns:a16="http://schemas.microsoft.com/office/drawing/2014/main" val="3121266667"/>
                    </a:ext>
                  </a:extLst>
                </a:gridCol>
                <a:gridCol w="1585006">
                  <a:extLst>
                    <a:ext uri="{9D8B030D-6E8A-4147-A177-3AD203B41FA5}">
                      <a16:colId xmlns:a16="http://schemas.microsoft.com/office/drawing/2014/main" val="990127231"/>
                    </a:ext>
                  </a:extLst>
                </a:gridCol>
                <a:gridCol w="1585006">
                  <a:extLst>
                    <a:ext uri="{9D8B030D-6E8A-4147-A177-3AD203B41FA5}">
                      <a16:colId xmlns:a16="http://schemas.microsoft.com/office/drawing/2014/main" val="1322369915"/>
                    </a:ext>
                  </a:extLst>
                </a:gridCol>
                <a:gridCol w="1025931">
                  <a:extLst>
                    <a:ext uri="{9D8B030D-6E8A-4147-A177-3AD203B41FA5}">
                      <a16:colId xmlns:a16="http://schemas.microsoft.com/office/drawing/2014/main" val="2707522207"/>
                    </a:ext>
                  </a:extLst>
                </a:gridCol>
              </a:tblGrid>
              <a:tr h="3195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Hearing Date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Hearing</a:t>
                      </a:r>
                      <a:r>
                        <a:rPr lang="en-AE" sz="900" b="1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Feedback date</a:t>
                      </a:r>
                      <a:endParaRPr lang="en-AE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Hearing Feed back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AE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AE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Updated by</a:t>
                      </a:r>
                      <a:endParaRPr lang="en-AE" sz="9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77190"/>
                  </a:ext>
                </a:extLst>
              </a:tr>
              <a:tr h="319596">
                <a:tc>
                  <a:txBody>
                    <a:bodyPr/>
                    <a:lstStyle/>
                    <a:p>
                      <a:pPr algn="ctr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25-10-2022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AE" sz="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27-10-2022</a:t>
                      </a:r>
                      <a:endParaRPr lang="en-AE" sz="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6242"/>
                  </a:ext>
                </a:extLst>
              </a:tr>
              <a:tr h="319596">
                <a:tc>
                  <a:txBody>
                    <a:bodyPr/>
                    <a:lstStyle/>
                    <a:p>
                      <a:pPr algn="l" fontAlgn="b"/>
                      <a:r>
                        <a:rPr lang="en-AE" sz="800" u="none" strike="noStrike" dirty="0">
                          <a:effectLst/>
                        </a:rPr>
                        <a:t> </a:t>
                      </a:r>
                      <a:r>
                        <a:rPr lang="en-AE" sz="800" u="none" strike="noStrike" dirty="0" smtClean="0">
                          <a:effectLst/>
                        </a:rPr>
                        <a:t> </a:t>
                      </a:r>
                      <a:endParaRPr lang="en-A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64081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Hearing Date and Feed 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2223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Expense</a:t>
            </a:r>
            <a:endParaRPr lang="en-US" sz="1050" dirty="0"/>
          </a:p>
        </p:txBody>
      </p:sp>
      <p:sp>
        <p:nvSpPr>
          <p:cNvPr id="39" name="Rectangle 38">
            <a:hlinkClick r:id="rId4" action="ppaction://hlinksldjump"/>
          </p:cNvPr>
          <p:cNvSpPr/>
          <p:nvPr/>
        </p:nvSpPr>
        <p:spPr>
          <a:xfrm>
            <a:off x="8684732" y="965315"/>
            <a:ext cx="1080053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</a:t>
            </a:r>
            <a:endParaRPr lang="en-US" sz="120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9538" y="2732763"/>
            <a:ext cx="231856" cy="21530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319082" y="2732399"/>
            <a:ext cx="205145" cy="21567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0856" y="2738775"/>
            <a:ext cx="225926" cy="20918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9538" y="3034647"/>
            <a:ext cx="231856" cy="215303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319082" y="3034283"/>
            <a:ext cx="205145" cy="21567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0856" y="3040659"/>
            <a:ext cx="225926" cy="20918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60361" y="397147"/>
            <a:ext cx="2091211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Actions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1029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&amp;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sp>
        <p:nvSpPr>
          <p:cNvPr id="3" name="Oval 2"/>
          <p:cNvSpPr/>
          <p:nvPr/>
        </p:nvSpPr>
        <p:spPr>
          <a:xfrm>
            <a:off x="653693" y="2048069"/>
            <a:ext cx="1575278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3141821"/>
            <a:ext cx="1815335" cy="9343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30" y="3666106"/>
            <a:ext cx="1203539" cy="2693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74906" y="3678945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Internal Team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41451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54" y="1799697"/>
            <a:ext cx="2562583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077" y="1799697"/>
            <a:ext cx="2562583" cy="12955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618" y="2680960"/>
            <a:ext cx="924054" cy="304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341" y="2680959"/>
            <a:ext cx="924054" cy="3048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22549" y="2680958"/>
            <a:ext cx="1946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Case Actions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437414" y="2646690"/>
            <a:ext cx="1946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Follow up Actions</a:t>
            </a:r>
            <a:endParaRPr lang="en-US" sz="1200" dirty="0"/>
          </a:p>
        </p:txBody>
      </p:sp>
      <p:sp>
        <p:nvSpPr>
          <p:cNvPr id="18" name="Oval 17"/>
          <p:cNvSpPr/>
          <p:nvPr/>
        </p:nvSpPr>
        <p:spPr>
          <a:xfrm>
            <a:off x="3246541" y="1686187"/>
            <a:ext cx="1887523" cy="14090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6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17453"/>
              </p:ext>
            </p:extLst>
          </p:nvPr>
        </p:nvGraphicFramePr>
        <p:xfrm>
          <a:off x="511029" y="2203130"/>
          <a:ext cx="11409727" cy="3551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2664236965"/>
                    </a:ext>
                  </a:extLst>
                </a:gridCol>
                <a:gridCol w="1246525">
                  <a:extLst>
                    <a:ext uri="{9D8B030D-6E8A-4147-A177-3AD203B41FA5}">
                      <a16:colId xmlns:a16="http://schemas.microsoft.com/office/drawing/2014/main" val="2224467503"/>
                    </a:ext>
                  </a:extLst>
                </a:gridCol>
                <a:gridCol w="2975578">
                  <a:extLst>
                    <a:ext uri="{9D8B030D-6E8A-4147-A177-3AD203B41FA5}">
                      <a16:colId xmlns:a16="http://schemas.microsoft.com/office/drawing/2014/main" val="2562447583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1878616574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4199457651"/>
                    </a:ext>
                  </a:extLst>
                </a:gridCol>
              </a:tblGrid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25/05/2022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Anju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Al </a:t>
                      </a:r>
                      <a:r>
                        <a:rPr lang="en-US" sz="1000" u="none" strike="noStrike" dirty="0" err="1">
                          <a:effectLst/>
                        </a:rPr>
                        <a:t>Rajhi</a:t>
                      </a:r>
                      <a:r>
                        <a:rPr lang="en-US" sz="1000" u="none" strike="noStrike" dirty="0">
                          <a:effectLst/>
                        </a:rPr>
                        <a:t> Construction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11462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Aneesh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Emco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Bldg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Cont</a:t>
                      </a:r>
                      <a:r>
                        <a:rPr lang="en-US" sz="1000" u="none" strike="noStrike" dirty="0">
                          <a:effectLst/>
                        </a:rPr>
                        <a:t>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>
                          <a:effectLst/>
                        </a:rPr>
                        <a:t>Al </a:t>
                      </a:r>
                      <a:r>
                        <a:rPr lang="en-GB" sz="1000" u="none" strike="noStrike" dirty="0" err="1">
                          <a:effectLst/>
                        </a:rPr>
                        <a:t>Kabban</a:t>
                      </a:r>
                      <a:r>
                        <a:rPr lang="en-GB" sz="1000" u="none" strike="noStrike" dirty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5606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Shaheena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Dubco</a:t>
                      </a:r>
                      <a:r>
                        <a:rPr lang="en-US" sz="1000" u="none" strike="noStrike" dirty="0">
                          <a:effectLst/>
                        </a:rPr>
                        <a:t> Contracting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4233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Aneesh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Robodh</a:t>
                      </a:r>
                      <a:r>
                        <a:rPr lang="en-US" sz="1000" u="none" strike="noStrike" dirty="0">
                          <a:effectLst/>
                        </a:rPr>
                        <a:t> Contracting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>
                          <a:effectLst/>
                        </a:rPr>
                        <a:t>Al </a:t>
                      </a:r>
                      <a:r>
                        <a:rPr lang="en-GB" sz="1000" u="none" strike="noStrike" dirty="0" err="1">
                          <a:effectLst/>
                        </a:rPr>
                        <a:t>Kabban</a:t>
                      </a:r>
                      <a:r>
                        <a:rPr lang="en-GB" sz="1000" u="none" strike="noStrike" dirty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57137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Pranitha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>
                          <a:effectLst/>
                        </a:rPr>
                        <a:t>Thomas Bennett Group Of Companies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1952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Shaheena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Kaveri General Contracting Co LLC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85904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970775"/>
              </p:ext>
            </p:extLst>
          </p:nvPr>
        </p:nvGraphicFramePr>
        <p:xfrm>
          <a:off x="511028" y="1913859"/>
          <a:ext cx="11409728" cy="2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186558785"/>
                    </a:ext>
                  </a:extLst>
                </a:gridCol>
                <a:gridCol w="1246524">
                  <a:extLst>
                    <a:ext uri="{9D8B030D-6E8A-4147-A177-3AD203B41FA5}">
                      <a16:colId xmlns:a16="http://schemas.microsoft.com/office/drawing/2014/main" val="2348575051"/>
                    </a:ext>
                  </a:extLst>
                </a:gridCol>
                <a:gridCol w="2975578">
                  <a:extLst>
                    <a:ext uri="{9D8B030D-6E8A-4147-A177-3AD203B41FA5}">
                      <a16:colId xmlns:a16="http://schemas.microsoft.com/office/drawing/2014/main" val="1384506786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1219140962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379009386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8998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402402"/>
            <a:ext cx="231856" cy="21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924629"/>
            <a:ext cx="231856" cy="215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3571981"/>
            <a:ext cx="231856" cy="2153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4178261"/>
            <a:ext cx="231856" cy="2153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181" y="4784541"/>
            <a:ext cx="231856" cy="2153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5289115"/>
            <a:ext cx="231856" cy="21530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615655" y="2203130"/>
            <a:ext cx="1862356" cy="5568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9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04596" y="2021538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Case Listed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398934"/>
              </p:ext>
            </p:extLst>
          </p:nvPr>
        </p:nvGraphicFramePr>
        <p:xfrm>
          <a:off x="318782" y="2273206"/>
          <a:ext cx="11500273" cy="910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5005">
                  <a:extLst>
                    <a:ext uri="{9D8B030D-6E8A-4147-A177-3AD203B41FA5}">
                      <a16:colId xmlns:a16="http://schemas.microsoft.com/office/drawing/2014/main" val="4186502452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1184146345"/>
                    </a:ext>
                  </a:extLst>
                </a:gridCol>
                <a:gridCol w="1064327">
                  <a:extLst>
                    <a:ext uri="{9D8B030D-6E8A-4147-A177-3AD203B41FA5}">
                      <a16:colId xmlns:a16="http://schemas.microsoft.com/office/drawing/2014/main" val="407192668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1169666689"/>
                    </a:ext>
                  </a:extLst>
                </a:gridCol>
                <a:gridCol w="988307">
                  <a:extLst>
                    <a:ext uri="{9D8B030D-6E8A-4147-A177-3AD203B41FA5}">
                      <a16:colId xmlns:a16="http://schemas.microsoft.com/office/drawing/2014/main" val="458357069"/>
                    </a:ext>
                  </a:extLst>
                </a:gridCol>
              </a:tblGrid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Mode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 Date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 Amount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71801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C590/2019, 990/2018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 Petition</a:t>
                      </a:r>
                      <a:endParaRPr lang="en-AE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6114835"/>
                  </a:ext>
                </a:extLst>
              </a:tr>
              <a:tr h="30365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2462/2020,2215/2018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Civil</a:t>
                      </a:r>
                      <a:r>
                        <a:rPr lang="en-AE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Case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25-01-2023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325000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311876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290" y="2623111"/>
            <a:ext cx="231856" cy="21139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752" y="2899753"/>
            <a:ext cx="231856" cy="211398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10800000">
            <a:off x="436228" y="1518406"/>
            <a:ext cx="469783" cy="226503"/>
          </a:xfrm>
          <a:prstGeom prst="rightArrow">
            <a:avLst>
              <a:gd name="adj1" fmla="val 7222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1728" y="1508546"/>
            <a:ext cx="2097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</a:rPr>
              <a:t>Back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7505" y="479036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LLC</a:t>
            </a:r>
            <a:endParaRPr lang="en-US" sz="1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159350" y="2550556"/>
            <a:ext cx="1837230" cy="3183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00245"/>
              </p:ext>
            </p:extLst>
          </p:nvPr>
        </p:nvGraphicFramePr>
        <p:xfrm>
          <a:off x="511029" y="2203130"/>
          <a:ext cx="11409727" cy="3623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2664236965"/>
                    </a:ext>
                  </a:extLst>
                </a:gridCol>
                <a:gridCol w="3332969">
                  <a:extLst>
                    <a:ext uri="{9D8B030D-6E8A-4147-A177-3AD203B41FA5}">
                      <a16:colId xmlns:a16="http://schemas.microsoft.com/office/drawing/2014/main" val="2224467503"/>
                    </a:ext>
                  </a:extLst>
                </a:gridCol>
                <a:gridCol w="1543575">
                  <a:extLst>
                    <a:ext uri="{9D8B030D-6E8A-4147-A177-3AD203B41FA5}">
                      <a16:colId xmlns:a16="http://schemas.microsoft.com/office/drawing/2014/main" val="2562447583"/>
                    </a:ext>
                  </a:extLst>
                </a:gridCol>
                <a:gridCol w="2285950">
                  <a:extLst>
                    <a:ext uri="{9D8B030D-6E8A-4147-A177-3AD203B41FA5}">
                      <a16:colId xmlns:a16="http://schemas.microsoft.com/office/drawing/2014/main" val="1878616574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4199457651"/>
                    </a:ext>
                  </a:extLst>
                </a:gridCol>
              </a:tblGrid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25/05/2022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Documents Submitted to Al </a:t>
                      </a:r>
                      <a:r>
                        <a:rPr lang="en-GB" sz="1000" dirty="0" err="1">
                          <a:effectLst/>
                        </a:rPr>
                        <a:t>Kabban</a:t>
                      </a:r>
                      <a:r>
                        <a:rPr lang="en-GB" sz="1000" dirty="0">
                          <a:effectLst/>
                        </a:rPr>
                        <a:t> &amp; Associates for Filing case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11462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 smtClean="0">
                          <a:effectLst/>
                        </a:rPr>
                        <a:t>27/05/2022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court has been adjourned to 05 Apr 2015 for </a:t>
                      </a:r>
                      <a:r>
                        <a:rPr lang="en-GB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resummoning</a:t>
                      </a: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defendant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Jabeer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 Accounts )</a:t>
                      </a:r>
                      <a:r>
                        <a:rPr lang="en-GB" sz="1000" b="0" dirty="0" smtClean="0"/>
                        <a:t/>
                      </a:r>
                      <a:br>
                        <a:rPr lang="en-GB" sz="1000" b="0" dirty="0" smtClean="0"/>
                      </a:b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behalf of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5606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Expert already submitted the report in favour of us , and this case shall refer to Arbitration centre and for this a meeting is required in between MD and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Mr.shamshudeen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4233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57137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Now Al </a:t>
                      </a:r>
                      <a:r>
                        <a:rPr lang="en-GB" sz="1000" dirty="0" err="1">
                          <a:effectLst/>
                        </a:rPr>
                        <a:t>Rajhi</a:t>
                      </a:r>
                      <a:r>
                        <a:rPr lang="en-GB" sz="1000" dirty="0">
                          <a:effectLst/>
                        </a:rPr>
                        <a:t> Name is ARC Construction LLC, 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1952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159510"/>
              </p:ext>
            </p:extLst>
          </p:nvPr>
        </p:nvGraphicFramePr>
        <p:xfrm>
          <a:off x="511028" y="1913859"/>
          <a:ext cx="11409728" cy="2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186558785"/>
                    </a:ext>
                  </a:extLst>
                </a:gridCol>
                <a:gridCol w="3332970">
                  <a:extLst>
                    <a:ext uri="{9D8B030D-6E8A-4147-A177-3AD203B41FA5}">
                      <a16:colId xmlns:a16="http://schemas.microsoft.com/office/drawing/2014/main" val="2348575051"/>
                    </a:ext>
                  </a:extLst>
                </a:gridCol>
                <a:gridCol w="1535186">
                  <a:extLst>
                    <a:ext uri="{9D8B030D-6E8A-4147-A177-3AD203B41FA5}">
                      <a16:colId xmlns:a16="http://schemas.microsoft.com/office/drawing/2014/main" val="1384506786"/>
                    </a:ext>
                  </a:extLst>
                </a:gridCol>
                <a:gridCol w="2294338">
                  <a:extLst>
                    <a:ext uri="{9D8B030D-6E8A-4147-A177-3AD203B41FA5}">
                      <a16:colId xmlns:a16="http://schemas.microsoft.com/office/drawing/2014/main" val="1219140962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379009386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Email</a:t>
                      </a:r>
                      <a:r>
                        <a:rPr lang="en-US" sz="7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Link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Updated</a:t>
                      </a:r>
                      <a:r>
                        <a:rPr lang="en-US" sz="7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by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8998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402402"/>
            <a:ext cx="231856" cy="21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924629"/>
            <a:ext cx="231856" cy="215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3571981"/>
            <a:ext cx="231856" cy="2153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4178261"/>
            <a:ext cx="231856" cy="2153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181" y="4784541"/>
            <a:ext cx="231856" cy="2153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5289115"/>
            <a:ext cx="231856" cy="2153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1028" y="493302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</a:t>
            </a:r>
            <a:r>
              <a:rPr lang="en-US" sz="1000" dirty="0" smtClean="0">
                <a:solidFill>
                  <a:srgbClr val="FF0000"/>
                </a:solidFill>
              </a:rPr>
              <a:t>LLC</a:t>
            </a:r>
            <a:endParaRPr lang="en-US" dirty="0" smtClean="0"/>
          </a:p>
          <a:p>
            <a:r>
              <a:rPr lang="en-US" sz="1000" dirty="0" smtClean="0">
                <a:solidFill>
                  <a:srgbClr val="FF0000"/>
                </a:solidFill>
              </a:rPr>
              <a:t>Case No           </a:t>
            </a:r>
            <a:r>
              <a:rPr lang="en-AE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C590/2019</a:t>
            </a:r>
            <a:r>
              <a:rPr lang="en-AE" sz="1000" dirty="0">
                <a:solidFill>
                  <a:srgbClr val="000000"/>
                </a:solidFill>
                <a:latin typeface="Calibri" panose="020F0502020204030204" pitchFamily="34" charset="0"/>
              </a:rPr>
              <a:t>, 990/2018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Case Mode: 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Direct </a:t>
            </a:r>
            <a:r>
              <a:rPr lang="en-US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Petition</a:t>
            </a:r>
            <a:endParaRPr lang="en-AE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7" y="2357631"/>
            <a:ext cx="362001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6" y="2902625"/>
            <a:ext cx="362001" cy="30484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5" y="3441279"/>
            <a:ext cx="362001" cy="3048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4255222"/>
            <a:ext cx="362001" cy="304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5211813"/>
            <a:ext cx="362001" cy="304843"/>
          </a:xfrm>
          <a:prstGeom prst="rect">
            <a:avLst/>
          </a:prstGeom>
        </p:spPr>
      </p:pic>
      <p:sp>
        <p:nvSpPr>
          <p:cNvPr id="19" name="Rectangle 18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Action</a:t>
            </a:r>
            <a:endParaRPr lang="en-US" sz="1200" b="1" dirty="0"/>
          </a:p>
        </p:txBody>
      </p:sp>
      <p:sp>
        <p:nvSpPr>
          <p:cNvPr id="20" name="Oval 19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0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1029" y="2203130"/>
          <a:ext cx="11409727" cy="3623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2664236965"/>
                    </a:ext>
                  </a:extLst>
                </a:gridCol>
                <a:gridCol w="3332969">
                  <a:extLst>
                    <a:ext uri="{9D8B030D-6E8A-4147-A177-3AD203B41FA5}">
                      <a16:colId xmlns:a16="http://schemas.microsoft.com/office/drawing/2014/main" val="2224467503"/>
                    </a:ext>
                  </a:extLst>
                </a:gridCol>
                <a:gridCol w="1543575">
                  <a:extLst>
                    <a:ext uri="{9D8B030D-6E8A-4147-A177-3AD203B41FA5}">
                      <a16:colId xmlns:a16="http://schemas.microsoft.com/office/drawing/2014/main" val="2562447583"/>
                    </a:ext>
                  </a:extLst>
                </a:gridCol>
                <a:gridCol w="2285950">
                  <a:extLst>
                    <a:ext uri="{9D8B030D-6E8A-4147-A177-3AD203B41FA5}">
                      <a16:colId xmlns:a16="http://schemas.microsoft.com/office/drawing/2014/main" val="1878616574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4199457651"/>
                    </a:ext>
                  </a:extLst>
                </a:gridCol>
              </a:tblGrid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25/05/2022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Documents Submitted to Al </a:t>
                      </a:r>
                      <a:r>
                        <a:rPr lang="en-GB" sz="1000" dirty="0" err="1">
                          <a:effectLst/>
                        </a:rPr>
                        <a:t>Kabban</a:t>
                      </a:r>
                      <a:r>
                        <a:rPr lang="en-GB" sz="1000" dirty="0">
                          <a:effectLst/>
                        </a:rPr>
                        <a:t> &amp; Associates for Filing case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11462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 smtClean="0">
                          <a:effectLst/>
                        </a:rPr>
                        <a:t>27/05/2022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court has been adjourned to 05 Apr 2015 for </a:t>
                      </a:r>
                      <a:r>
                        <a:rPr lang="en-GB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resummoning</a:t>
                      </a: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defendant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Jabeer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 Accounts )</a:t>
                      </a:r>
                      <a:r>
                        <a:rPr lang="en-GB" sz="1000" b="0" dirty="0" smtClean="0"/>
                        <a:t/>
                      </a:r>
                      <a:br>
                        <a:rPr lang="en-GB" sz="1000" b="0" dirty="0" smtClean="0"/>
                      </a:b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behalf of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5606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Expert already submitted the report in favour of us , and this case shall refer to Arbitration centre and for this a meeting is required in between MD and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Mr.shamshudeen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4233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57137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Now Al </a:t>
                      </a:r>
                      <a:r>
                        <a:rPr lang="en-GB" sz="1000" dirty="0" err="1">
                          <a:effectLst/>
                        </a:rPr>
                        <a:t>Rajhi</a:t>
                      </a:r>
                      <a:r>
                        <a:rPr lang="en-GB" sz="1000" dirty="0">
                          <a:effectLst/>
                        </a:rPr>
                        <a:t> Name is ARC Construction LLC, 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1952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1028" y="1913859"/>
          <a:ext cx="11409728" cy="2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186558785"/>
                    </a:ext>
                  </a:extLst>
                </a:gridCol>
                <a:gridCol w="3332970">
                  <a:extLst>
                    <a:ext uri="{9D8B030D-6E8A-4147-A177-3AD203B41FA5}">
                      <a16:colId xmlns:a16="http://schemas.microsoft.com/office/drawing/2014/main" val="2348575051"/>
                    </a:ext>
                  </a:extLst>
                </a:gridCol>
                <a:gridCol w="1535186">
                  <a:extLst>
                    <a:ext uri="{9D8B030D-6E8A-4147-A177-3AD203B41FA5}">
                      <a16:colId xmlns:a16="http://schemas.microsoft.com/office/drawing/2014/main" val="1384506786"/>
                    </a:ext>
                  </a:extLst>
                </a:gridCol>
                <a:gridCol w="2294338">
                  <a:extLst>
                    <a:ext uri="{9D8B030D-6E8A-4147-A177-3AD203B41FA5}">
                      <a16:colId xmlns:a16="http://schemas.microsoft.com/office/drawing/2014/main" val="1219140962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379009386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Email</a:t>
                      </a:r>
                      <a:r>
                        <a:rPr lang="en-US" sz="7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Link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Updated</a:t>
                      </a:r>
                      <a:r>
                        <a:rPr lang="en-US" sz="7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by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8998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402402"/>
            <a:ext cx="231856" cy="21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924629"/>
            <a:ext cx="231856" cy="215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3571981"/>
            <a:ext cx="231856" cy="2153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4178261"/>
            <a:ext cx="231856" cy="2153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181" y="4784541"/>
            <a:ext cx="231856" cy="2153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5289115"/>
            <a:ext cx="231856" cy="2153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1028" y="493302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</a:t>
            </a:r>
            <a:r>
              <a:rPr lang="en-US" sz="1000" dirty="0" smtClean="0">
                <a:solidFill>
                  <a:srgbClr val="FF0000"/>
                </a:solidFill>
              </a:rPr>
              <a:t>LLC</a:t>
            </a:r>
            <a:endParaRPr lang="en-US" dirty="0" smtClean="0"/>
          </a:p>
          <a:p>
            <a:r>
              <a:rPr lang="en-US" sz="1000" dirty="0" smtClean="0">
                <a:solidFill>
                  <a:srgbClr val="FF0000"/>
                </a:solidFill>
              </a:rPr>
              <a:t>Case No           </a:t>
            </a:r>
            <a:r>
              <a:rPr lang="en-AE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C590/2019</a:t>
            </a:r>
            <a:r>
              <a:rPr lang="en-AE" sz="1000" dirty="0">
                <a:solidFill>
                  <a:srgbClr val="000000"/>
                </a:solidFill>
                <a:latin typeface="Calibri" panose="020F0502020204030204" pitchFamily="34" charset="0"/>
              </a:rPr>
              <a:t>, 990/2018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Case Mode: 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Direct </a:t>
            </a:r>
            <a:r>
              <a:rPr lang="en-US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Petition</a:t>
            </a:r>
            <a:endParaRPr lang="en-AE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7" y="2357631"/>
            <a:ext cx="362001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6" y="2902625"/>
            <a:ext cx="362001" cy="30484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5" y="3441279"/>
            <a:ext cx="362001" cy="3048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4255222"/>
            <a:ext cx="362001" cy="304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5211813"/>
            <a:ext cx="362001" cy="304843"/>
          </a:xfrm>
          <a:prstGeom prst="rect">
            <a:avLst/>
          </a:prstGeom>
        </p:spPr>
      </p:pic>
      <p:sp>
        <p:nvSpPr>
          <p:cNvPr id="19" name="Rectangle 18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Action</a:t>
            </a:r>
            <a:endParaRPr lang="en-US" sz="1200" b="1" dirty="0"/>
          </a:p>
        </p:txBody>
      </p:sp>
      <p:sp>
        <p:nvSpPr>
          <p:cNvPr id="20" name="Oval 19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21561" y="1029617"/>
            <a:ext cx="6742600" cy="412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5" action="ppaction://hlinksldjump"/>
          </p:cNvPr>
          <p:cNvSpPr/>
          <p:nvPr/>
        </p:nvSpPr>
        <p:spPr>
          <a:xfrm>
            <a:off x="8348030" y="4460335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update</a:t>
            </a:r>
            <a:endParaRPr lang="en-US" sz="1200" b="1" dirty="0"/>
          </a:p>
        </p:txBody>
      </p:sp>
      <p:sp>
        <p:nvSpPr>
          <p:cNvPr id="22" name="Oval 21"/>
          <p:cNvSpPr/>
          <p:nvPr/>
        </p:nvSpPr>
        <p:spPr>
          <a:xfrm>
            <a:off x="7943615" y="4188317"/>
            <a:ext cx="2427006" cy="8471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552214" y="173312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3170" y="1733123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Date</a:t>
            </a:r>
            <a:endParaRPr lang="en-US" sz="1000" dirty="0"/>
          </a:p>
        </p:txBody>
      </p:sp>
      <p:sp>
        <p:nvSpPr>
          <p:cNvPr id="26" name="Rounded Rectangle 25"/>
          <p:cNvSpPr/>
          <p:nvPr/>
        </p:nvSpPr>
        <p:spPr>
          <a:xfrm>
            <a:off x="5552214" y="2268615"/>
            <a:ext cx="3591613" cy="11704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3170" y="2260755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Action</a:t>
            </a:r>
            <a:endParaRPr lang="en-US" sz="1000" dirty="0"/>
          </a:p>
        </p:txBody>
      </p:sp>
      <p:sp>
        <p:nvSpPr>
          <p:cNvPr id="28" name="Rounded Rectangle 27"/>
          <p:cNvSpPr/>
          <p:nvPr/>
        </p:nvSpPr>
        <p:spPr>
          <a:xfrm>
            <a:off x="5552214" y="364141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53170" y="3641413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Email Link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655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3653" y="44574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16" y="2009421"/>
            <a:ext cx="2562583" cy="1295581"/>
          </a:xfrm>
          <a:prstGeom prst="rect">
            <a:avLst/>
          </a:prstGeom>
        </p:spPr>
      </p:pic>
      <p:pic>
        <p:nvPicPr>
          <p:cNvPr id="7" name="Picture 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739" y="2009421"/>
            <a:ext cx="2562583" cy="12955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280" y="2890684"/>
            <a:ext cx="924054" cy="304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003" y="2890683"/>
            <a:ext cx="924054" cy="3048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21211" y="2890682"/>
            <a:ext cx="1946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Case Actions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236076" y="2856414"/>
            <a:ext cx="1946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Follow up Actions</a:t>
            </a:r>
            <a:endParaRPr lang="en-US" sz="1200" dirty="0"/>
          </a:p>
        </p:txBody>
      </p:sp>
      <p:sp>
        <p:nvSpPr>
          <p:cNvPr id="2" name="Oval 1"/>
          <p:cNvSpPr/>
          <p:nvPr/>
        </p:nvSpPr>
        <p:spPr>
          <a:xfrm>
            <a:off x="7020186" y="1877035"/>
            <a:ext cx="1761688" cy="15603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6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1029" y="2203130"/>
          <a:ext cx="11409727" cy="3551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2664236965"/>
                    </a:ext>
                  </a:extLst>
                </a:gridCol>
                <a:gridCol w="1246525">
                  <a:extLst>
                    <a:ext uri="{9D8B030D-6E8A-4147-A177-3AD203B41FA5}">
                      <a16:colId xmlns:a16="http://schemas.microsoft.com/office/drawing/2014/main" val="2224467503"/>
                    </a:ext>
                  </a:extLst>
                </a:gridCol>
                <a:gridCol w="2975578">
                  <a:extLst>
                    <a:ext uri="{9D8B030D-6E8A-4147-A177-3AD203B41FA5}">
                      <a16:colId xmlns:a16="http://schemas.microsoft.com/office/drawing/2014/main" val="2562447583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1878616574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4199457651"/>
                    </a:ext>
                  </a:extLst>
                </a:gridCol>
              </a:tblGrid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25/05/2022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Anju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Al </a:t>
                      </a:r>
                      <a:r>
                        <a:rPr lang="en-US" sz="1000" u="none" strike="noStrike" dirty="0" err="1">
                          <a:effectLst/>
                        </a:rPr>
                        <a:t>Rajhi</a:t>
                      </a:r>
                      <a:r>
                        <a:rPr lang="en-US" sz="1000" u="none" strike="noStrike" dirty="0">
                          <a:effectLst/>
                        </a:rPr>
                        <a:t> Construction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11462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Aneesh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Emco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Bldg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Cont</a:t>
                      </a:r>
                      <a:r>
                        <a:rPr lang="en-US" sz="1000" u="none" strike="noStrike" dirty="0">
                          <a:effectLst/>
                        </a:rPr>
                        <a:t>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>
                          <a:effectLst/>
                        </a:rPr>
                        <a:t>Al </a:t>
                      </a:r>
                      <a:r>
                        <a:rPr lang="en-GB" sz="1000" u="none" strike="noStrike" dirty="0" err="1">
                          <a:effectLst/>
                        </a:rPr>
                        <a:t>Kabban</a:t>
                      </a:r>
                      <a:r>
                        <a:rPr lang="en-GB" sz="1000" u="none" strike="noStrike" dirty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5606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Shaheena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Dubco</a:t>
                      </a:r>
                      <a:r>
                        <a:rPr lang="en-US" sz="1000" u="none" strike="noStrike" dirty="0">
                          <a:effectLst/>
                        </a:rPr>
                        <a:t> Contracting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4233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Aneesh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Robodh</a:t>
                      </a:r>
                      <a:r>
                        <a:rPr lang="en-US" sz="1000" u="none" strike="noStrike" dirty="0">
                          <a:effectLst/>
                        </a:rPr>
                        <a:t> Contracting LLC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>
                          <a:effectLst/>
                        </a:rPr>
                        <a:t>Al </a:t>
                      </a:r>
                      <a:r>
                        <a:rPr lang="en-GB" sz="1000" u="none" strike="noStrike" dirty="0" err="1">
                          <a:effectLst/>
                        </a:rPr>
                        <a:t>Kabban</a:t>
                      </a:r>
                      <a:r>
                        <a:rPr lang="en-GB" sz="1000" u="none" strike="noStrike" dirty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57137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Pranitha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>
                          <a:effectLst/>
                        </a:rPr>
                        <a:t>Thomas Bennett Group Of Companies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1952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Shaheena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Kaveri General Contracting Co LLC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u="none" strike="noStrike" dirty="0" smtClean="0">
                          <a:effectLst/>
                        </a:rPr>
                        <a:t>Al </a:t>
                      </a:r>
                      <a:r>
                        <a:rPr lang="en-GB" sz="1000" u="none" strike="noStrike" dirty="0" err="1" smtClean="0">
                          <a:effectLst/>
                        </a:rPr>
                        <a:t>Shafar</a:t>
                      </a:r>
                      <a:r>
                        <a:rPr lang="en-GB" sz="1000" u="none" strike="noStrike" dirty="0" smtClean="0">
                          <a:effectLst/>
                        </a:rPr>
                        <a:t> &amp; Associates (Legal Firm)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85904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1028" y="1913859"/>
          <a:ext cx="11409728" cy="2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186558785"/>
                    </a:ext>
                  </a:extLst>
                </a:gridCol>
                <a:gridCol w="1246524">
                  <a:extLst>
                    <a:ext uri="{9D8B030D-6E8A-4147-A177-3AD203B41FA5}">
                      <a16:colId xmlns:a16="http://schemas.microsoft.com/office/drawing/2014/main" val="2348575051"/>
                    </a:ext>
                  </a:extLst>
                </a:gridCol>
                <a:gridCol w="2975578">
                  <a:extLst>
                    <a:ext uri="{9D8B030D-6E8A-4147-A177-3AD203B41FA5}">
                      <a16:colId xmlns:a16="http://schemas.microsoft.com/office/drawing/2014/main" val="1384506786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1219140962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379009386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8998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402402"/>
            <a:ext cx="231856" cy="21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924629"/>
            <a:ext cx="231856" cy="215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3571981"/>
            <a:ext cx="231856" cy="2153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4178261"/>
            <a:ext cx="231856" cy="2153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181" y="4784541"/>
            <a:ext cx="231856" cy="2153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5289115"/>
            <a:ext cx="231856" cy="21530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615655" y="2203130"/>
            <a:ext cx="1862356" cy="5568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5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1029" y="2203130"/>
          <a:ext cx="11409727" cy="3623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2664236965"/>
                    </a:ext>
                  </a:extLst>
                </a:gridCol>
                <a:gridCol w="3332969">
                  <a:extLst>
                    <a:ext uri="{9D8B030D-6E8A-4147-A177-3AD203B41FA5}">
                      <a16:colId xmlns:a16="http://schemas.microsoft.com/office/drawing/2014/main" val="2224467503"/>
                    </a:ext>
                  </a:extLst>
                </a:gridCol>
                <a:gridCol w="1543575">
                  <a:extLst>
                    <a:ext uri="{9D8B030D-6E8A-4147-A177-3AD203B41FA5}">
                      <a16:colId xmlns:a16="http://schemas.microsoft.com/office/drawing/2014/main" val="2562447583"/>
                    </a:ext>
                  </a:extLst>
                </a:gridCol>
                <a:gridCol w="2285950">
                  <a:extLst>
                    <a:ext uri="{9D8B030D-6E8A-4147-A177-3AD203B41FA5}">
                      <a16:colId xmlns:a16="http://schemas.microsoft.com/office/drawing/2014/main" val="1878616574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4199457651"/>
                    </a:ext>
                  </a:extLst>
                </a:gridCol>
              </a:tblGrid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25/05/2022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Documents Submitted to Al </a:t>
                      </a:r>
                      <a:r>
                        <a:rPr lang="en-GB" sz="1000" dirty="0" err="1">
                          <a:effectLst/>
                        </a:rPr>
                        <a:t>Kabban</a:t>
                      </a:r>
                      <a:r>
                        <a:rPr lang="en-GB" sz="1000" dirty="0">
                          <a:effectLst/>
                        </a:rPr>
                        <a:t> &amp; Associates for Filing case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Jabeer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 Accounts )</a:t>
                      </a:r>
                      <a:r>
                        <a:rPr lang="en-GB" sz="1000" b="0" dirty="0" smtClean="0"/>
                        <a:t/>
                      </a:r>
                      <a:br>
                        <a:rPr lang="en-GB" sz="1000" b="0" dirty="0" smtClean="0"/>
                      </a:b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behalf of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11462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 smtClean="0">
                          <a:effectLst/>
                        </a:rPr>
                        <a:t>27/05/2022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court has been adjourned to 05 Apr 2015 for </a:t>
                      </a:r>
                      <a:r>
                        <a:rPr lang="en-GB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resummoning</a:t>
                      </a: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defendant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Jabeer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 Accounts )</a:t>
                      </a:r>
                      <a:r>
                        <a:rPr lang="en-GB" sz="1000" b="0" dirty="0" smtClean="0"/>
                        <a:t/>
                      </a:r>
                      <a:br>
                        <a:rPr lang="en-GB" sz="1000" b="0" dirty="0" smtClean="0"/>
                      </a:b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behalf of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5606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Expert already submitted the report in favour of us , and this case shall refer to Arbitration centre and for this a meeting is required in between MD and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Mr.shamshudeen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Jabeer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 Accounts )</a:t>
                      </a:r>
                      <a:r>
                        <a:rPr lang="en-GB" sz="1000" b="0" dirty="0" smtClean="0"/>
                        <a:t/>
                      </a:r>
                      <a:br>
                        <a:rPr lang="en-GB" sz="1000" b="0" dirty="0" smtClean="0"/>
                      </a:b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behalf of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4233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57137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Now Al </a:t>
                      </a:r>
                      <a:r>
                        <a:rPr lang="en-GB" sz="1000" dirty="0" err="1">
                          <a:effectLst/>
                        </a:rPr>
                        <a:t>Rajhi</a:t>
                      </a:r>
                      <a:r>
                        <a:rPr lang="en-GB" sz="1000" dirty="0">
                          <a:effectLst/>
                        </a:rPr>
                        <a:t> Name is ARC Construction LLC, 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1952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1028" y="1913859"/>
          <a:ext cx="11409728" cy="2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186558785"/>
                    </a:ext>
                  </a:extLst>
                </a:gridCol>
                <a:gridCol w="3332970">
                  <a:extLst>
                    <a:ext uri="{9D8B030D-6E8A-4147-A177-3AD203B41FA5}">
                      <a16:colId xmlns:a16="http://schemas.microsoft.com/office/drawing/2014/main" val="2348575051"/>
                    </a:ext>
                  </a:extLst>
                </a:gridCol>
                <a:gridCol w="1535186">
                  <a:extLst>
                    <a:ext uri="{9D8B030D-6E8A-4147-A177-3AD203B41FA5}">
                      <a16:colId xmlns:a16="http://schemas.microsoft.com/office/drawing/2014/main" val="1384506786"/>
                    </a:ext>
                  </a:extLst>
                </a:gridCol>
                <a:gridCol w="2294338">
                  <a:extLst>
                    <a:ext uri="{9D8B030D-6E8A-4147-A177-3AD203B41FA5}">
                      <a16:colId xmlns:a16="http://schemas.microsoft.com/office/drawing/2014/main" val="1219140962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379009386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Email</a:t>
                      </a:r>
                      <a:r>
                        <a:rPr lang="en-US" sz="7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Link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Updated</a:t>
                      </a:r>
                      <a:r>
                        <a:rPr lang="en-US" sz="7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by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8998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402402"/>
            <a:ext cx="231856" cy="21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924629"/>
            <a:ext cx="231856" cy="215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3571981"/>
            <a:ext cx="231856" cy="2153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4178261"/>
            <a:ext cx="231856" cy="2153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181" y="4784541"/>
            <a:ext cx="231856" cy="2153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5289115"/>
            <a:ext cx="231856" cy="2153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1028" y="493302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</a:t>
            </a:r>
            <a:r>
              <a:rPr lang="en-US" sz="1000" dirty="0" smtClean="0">
                <a:solidFill>
                  <a:srgbClr val="FF0000"/>
                </a:solidFill>
              </a:rPr>
              <a:t>LLC</a:t>
            </a:r>
            <a:endParaRPr lang="en-US" dirty="0" smtClean="0"/>
          </a:p>
          <a:p>
            <a:r>
              <a:rPr lang="en-US" sz="1000" dirty="0" smtClean="0">
                <a:solidFill>
                  <a:srgbClr val="FF0000"/>
                </a:solidFill>
              </a:rPr>
              <a:t>Case No           </a:t>
            </a:r>
            <a:r>
              <a:rPr lang="en-AE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C590/2019</a:t>
            </a:r>
            <a:r>
              <a:rPr lang="en-AE" sz="1000" dirty="0">
                <a:solidFill>
                  <a:srgbClr val="000000"/>
                </a:solidFill>
                <a:latin typeface="Calibri" panose="020F0502020204030204" pitchFamily="34" charset="0"/>
              </a:rPr>
              <a:t>, 990/2018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Case Mode: 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Direct </a:t>
            </a:r>
            <a:r>
              <a:rPr lang="en-US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Petition</a:t>
            </a:r>
            <a:endParaRPr lang="en-AE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7" y="2357631"/>
            <a:ext cx="362001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6" y="2902625"/>
            <a:ext cx="362001" cy="30484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5" y="3441279"/>
            <a:ext cx="362001" cy="3048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4255222"/>
            <a:ext cx="362001" cy="304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5211813"/>
            <a:ext cx="362001" cy="304843"/>
          </a:xfrm>
          <a:prstGeom prst="rect">
            <a:avLst/>
          </a:prstGeom>
        </p:spPr>
      </p:pic>
      <p:sp>
        <p:nvSpPr>
          <p:cNvPr id="19" name="Rectangle 18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Action</a:t>
            </a:r>
            <a:endParaRPr lang="en-US" sz="1200" b="1" dirty="0"/>
          </a:p>
        </p:txBody>
      </p:sp>
      <p:sp>
        <p:nvSpPr>
          <p:cNvPr id="20" name="Oval 19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9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1029" y="2203130"/>
          <a:ext cx="11409727" cy="3623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2664236965"/>
                    </a:ext>
                  </a:extLst>
                </a:gridCol>
                <a:gridCol w="3332969">
                  <a:extLst>
                    <a:ext uri="{9D8B030D-6E8A-4147-A177-3AD203B41FA5}">
                      <a16:colId xmlns:a16="http://schemas.microsoft.com/office/drawing/2014/main" val="2224467503"/>
                    </a:ext>
                  </a:extLst>
                </a:gridCol>
                <a:gridCol w="1543575">
                  <a:extLst>
                    <a:ext uri="{9D8B030D-6E8A-4147-A177-3AD203B41FA5}">
                      <a16:colId xmlns:a16="http://schemas.microsoft.com/office/drawing/2014/main" val="2562447583"/>
                    </a:ext>
                  </a:extLst>
                </a:gridCol>
                <a:gridCol w="2285950">
                  <a:extLst>
                    <a:ext uri="{9D8B030D-6E8A-4147-A177-3AD203B41FA5}">
                      <a16:colId xmlns:a16="http://schemas.microsoft.com/office/drawing/2014/main" val="1878616574"/>
                    </a:ext>
                  </a:extLst>
                </a:gridCol>
                <a:gridCol w="2940391">
                  <a:extLst>
                    <a:ext uri="{9D8B030D-6E8A-4147-A177-3AD203B41FA5}">
                      <a16:colId xmlns:a16="http://schemas.microsoft.com/office/drawing/2014/main" val="4199457651"/>
                    </a:ext>
                  </a:extLst>
                </a:gridCol>
              </a:tblGrid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25/05/2022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Documents Submitted to Al </a:t>
                      </a:r>
                      <a:r>
                        <a:rPr lang="en-GB" sz="1000" dirty="0" err="1">
                          <a:effectLst/>
                        </a:rPr>
                        <a:t>Kabban</a:t>
                      </a:r>
                      <a:r>
                        <a:rPr lang="en-GB" sz="1000" dirty="0">
                          <a:effectLst/>
                        </a:rPr>
                        <a:t> &amp; Associates for Filing case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11462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 smtClean="0">
                          <a:effectLst/>
                        </a:rPr>
                        <a:t>27/05/2022</a:t>
                      </a:r>
                      <a:endParaRPr lang="en-AE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court has been adjourned to 05 Apr 2015 for </a:t>
                      </a:r>
                      <a:r>
                        <a:rPr lang="en-GB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resummoning</a:t>
                      </a: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defendant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Jabeer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 Accounts )</a:t>
                      </a:r>
                      <a:r>
                        <a:rPr lang="en-GB" sz="1000" b="0" dirty="0" smtClean="0"/>
                        <a:t/>
                      </a:r>
                      <a:br>
                        <a:rPr lang="en-GB" sz="1000" b="0" dirty="0" smtClean="0"/>
                      </a:b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behalf of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Sujikumar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Subramanian ( Operations Manager )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56069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Expert already submitted the report in favour of us , and this case shall refer to Arbitration centre and for this a meeting is required in between MD and </a:t>
                      </a:r>
                      <a:r>
                        <a:rPr lang="en-GB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Mr.shamshudeen</a:t>
                      </a:r>
                      <a:r>
                        <a:rPr lang="en-GB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4233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57137"/>
                  </a:ext>
                </a:extLst>
              </a:tr>
              <a:tr h="591953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25/05/2022</a:t>
                      </a:r>
                      <a:endParaRPr lang="en-AE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effectLst/>
                        </a:rPr>
                        <a:t/>
                      </a:r>
                      <a:br>
                        <a:rPr lang="en-GB" sz="1000" dirty="0">
                          <a:effectLst/>
                        </a:rPr>
                      </a:br>
                      <a:r>
                        <a:rPr lang="en-GB" sz="1000" dirty="0">
                          <a:effectLst/>
                        </a:rPr>
                        <a:t>Now Al </a:t>
                      </a:r>
                      <a:r>
                        <a:rPr lang="en-GB" sz="1000" dirty="0" err="1">
                          <a:effectLst/>
                        </a:rPr>
                        <a:t>Rajhi</a:t>
                      </a:r>
                      <a:r>
                        <a:rPr lang="en-GB" sz="1000" dirty="0">
                          <a:effectLst/>
                        </a:rPr>
                        <a:t> Name is ARC Construction LLC, Application made for the attachment of License in DED, Bank balance from Central Bank, Land &amp; Real Estate from (DCD) and also given application for the manager's passport copy for their ban. Email received on 21/09/2020 after long time.</a:t>
                      </a:r>
                    </a:p>
                  </a:txBody>
                  <a:tcPr marL="57150" marR="57150" marT="38100" marB="476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>
                          <a:effectLst/>
                        </a:rPr>
                        <a:t>Al </a:t>
                      </a:r>
                      <a:r>
                        <a:rPr lang="en-GB" sz="1000" dirty="0" err="1" smtClean="0">
                          <a:effectLst/>
                        </a:rPr>
                        <a:t>Kabban</a:t>
                      </a:r>
                      <a:r>
                        <a:rPr lang="en-GB" sz="1000" dirty="0" smtClean="0">
                          <a:effectLst/>
                        </a:rPr>
                        <a:t> &amp; Associate</a:t>
                      </a:r>
                      <a:endParaRPr lang="en-GB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1952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1028" y="1913859"/>
          <a:ext cx="11409728" cy="2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42">
                  <a:extLst>
                    <a:ext uri="{9D8B030D-6E8A-4147-A177-3AD203B41FA5}">
                      <a16:colId xmlns:a16="http://schemas.microsoft.com/office/drawing/2014/main" val="186558785"/>
                    </a:ext>
                  </a:extLst>
                </a:gridCol>
                <a:gridCol w="3332970">
                  <a:extLst>
                    <a:ext uri="{9D8B030D-6E8A-4147-A177-3AD203B41FA5}">
                      <a16:colId xmlns:a16="http://schemas.microsoft.com/office/drawing/2014/main" val="2348575051"/>
                    </a:ext>
                  </a:extLst>
                </a:gridCol>
                <a:gridCol w="1535186">
                  <a:extLst>
                    <a:ext uri="{9D8B030D-6E8A-4147-A177-3AD203B41FA5}">
                      <a16:colId xmlns:a16="http://schemas.microsoft.com/office/drawing/2014/main" val="1384506786"/>
                    </a:ext>
                  </a:extLst>
                </a:gridCol>
                <a:gridCol w="2294338">
                  <a:extLst>
                    <a:ext uri="{9D8B030D-6E8A-4147-A177-3AD203B41FA5}">
                      <a16:colId xmlns:a16="http://schemas.microsoft.com/office/drawing/2014/main" val="1219140962"/>
                    </a:ext>
                  </a:extLst>
                </a:gridCol>
                <a:gridCol w="2940392">
                  <a:extLst>
                    <a:ext uri="{9D8B030D-6E8A-4147-A177-3AD203B41FA5}">
                      <a16:colId xmlns:a16="http://schemas.microsoft.com/office/drawing/2014/main" val="379009386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Email</a:t>
                      </a:r>
                      <a:r>
                        <a:rPr lang="en-US" sz="7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Link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Updated</a:t>
                      </a:r>
                      <a:r>
                        <a:rPr lang="en-US" sz="7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by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8998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402402"/>
            <a:ext cx="231856" cy="21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2924629"/>
            <a:ext cx="231856" cy="215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3571981"/>
            <a:ext cx="231856" cy="2153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4178261"/>
            <a:ext cx="231856" cy="2153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181" y="4784541"/>
            <a:ext cx="231856" cy="2153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22" y="5289115"/>
            <a:ext cx="231856" cy="2153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1028" y="493302"/>
            <a:ext cx="4253218" cy="6823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Marketing :     Anju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Client :             Al </a:t>
            </a:r>
            <a:r>
              <a:rPr lang="en-US" sz="1000" dirty="0" err="1">
                <a:solidFill>
                  <a:srgbClr val="FF0000"/>
                </a:solidFill>
              </a:rPr>
              <a:t>Rajhi</a:t>
            </a:r>
            <a:r>
              <a:rPr lang="en-US" sz="1000" dirty="0">
                <a:solidFill>
                  <a:srgbClr val="FF0000"/>
                </a:solidFill>
              </a:rPr>
              <a:t> Construction </a:t>
            </a:r>
            <a:r>
              <a:rPr lang="en-US" sz="1000" dirty="0" smtClean="0">
                <a:solidFill>
                  <a:srgbClr val="FF0000"/>
                </a:solidFill>
              </a:rPr>
              <a:t>LLC</a:t>
            </a:r>
            <a:endParaRPr lang="en-US" dirty="0" smtClean="0"/>
          </a:p>
          <a:p>
            <a:r>
              <a:rPr lang="en-US" sz="1000" dirty="0" smtClean="0">
                <a:solidFill>
                  <a:srgbClr val="FF0000"/>
                </a:solidFill>
              </a:rPr>
              <a:t>Case No           </a:t>
            </a:r>
            <a:r>
              <a:rPr lang="en-AE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C590/2019</a:t>
            </a:r>
            <a:r>
              <a:rPr lang="en-AE" sz="1000" dirty="0">
                <a:solidFill>
                  <a:srgbClr val="000000"/>
                </a:solidFill>
                <a:latin typeface="Calibri" panose="020F0502020204030204" pitchFamily="34" charset="0"/>
              </a:rPr>
              <a:t>, 990/2018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Case Mode: 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Direct </a:t>
            </a:r>
            <a:r>
              <a:rPr lang="en-US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Petition</a:t>
            </a:r>
            <a:endParaRPr lang="en-AE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7" y="2357631"/>
            <a:ext cx="362001" cy="3048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6" y="2902625"/>
            <a:ext cx="362001" cy="30484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5" y="3441279"/>
            <a:ext cx="362001" cy="3048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4255222"/>
            <a:ext cx="362001" cy="304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83" y="5211813"/>
            <a:ext cx="362001" cy="304843"/>
          </a:xfrm>
          <a:prstGeom prst="rect">
            <a:avLst/>
          </a:prstGeom>
        </p:spPr>
      </p:pic>
      <p:sp>
        <p:nvSpPr>
          <p:cNvPr id="19" name="Rectangle 18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Action</a:t>
            </a:r>
            <a:endParaRPr lang="en-US" sz="1200" b="1" dirty="0"/>
          </a:p>
        </p:txBody>
      </p:sp>
      <p:sp>
        <p:nvSpPr>
          <p:cNvPr id="20" name="Oval 19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21561" y="1029617"/>
            <a:ext cx="6742600" cy="41272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5" action="ppaction://hlinksldjump"/>
          </p:cNvPr>
          <p:cNvSpPr/>
          <p:nvPr/>
        </p:nvSpPr>
        <p:spPr>
          <a:xfrm>
            <a:off x="8348030" y="4460335"/>
            <a:ext cx="1633728" cy="33552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update</a:t>
            </a:r>
            <a:endParaRPr lang="en-US" sz="1200" b="1" dirty="0"/>
          </a:p>
        </p:txBody>
      </p:sp>
      <p:sp>
        <p:nvSpPr>
          <p:cNvPr id="22" name="Oval 21"/>
          <p:cNvSpPr/>
          <p:nvPr/>
        </p:nvSpPr>
        <p:spPr>
          <a:xfrm>
            <a:off x="7943615" y="4188317"/>
            <a:ext cx="2427006" cy="8471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552214" y="173312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3170" y="1733123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Date</a:t>
            </a:r>
            <a:endParaRPr lang="en-US" sz="1000" dirty="0"/>
          </a:p>
        </p:txBody>
      </p:sp>
      <p:sp>
        <p:nvSpPr>
          <p:cNvPr id="26" name="Rounded Rectangle 25"/>
          <p:cNvSpPr/>
          <p:nvPr/>
        </p:nvSpPr>
        <p:spPr>
          <a:xfrm>
            <a:off x="5552214" y="2268615"/>
            <a:ext cx="3591613" cy="11704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3170" y="2260755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Action</a:t>
            </a:r>
            <a:endParaRPr lang="en-US" sz="1000" dirty="0"/>
          </a:p>
        </p:txBody>
      </p:sp>
      <p:sp>
        <p:nvSpPr>
          <p:cNvPr id="28" name="Rounded Rectangle 27"/>
          <p:cNvSpPr/>
          <p:nvPr/>
        </p:nvSpPr>
        <p:spPr>
          <a:xfrm>
            <a:off x="5552214" y="364141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53170" y="3641413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Email Link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793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380" y="2035725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2039561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087" y="2018007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41657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98793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265" y="2522691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06957" y="255330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&amp;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10" y="2615913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32677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368" y="259265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00524" y="2586396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3141821"/>
            <a:ext cx="1815335" cy="9343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30" y="3666106"/>
            <a:ext cx="1203539" cy="2693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74906" y="3678945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Team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2945652" y="2071415"/>
            <a:ext cx="1575278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0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844075"/>
              </p:ext>
            </p:extLst>
          </p:nvPr>
        </p:nvGraphicFramePr>
        <p:xfrm>
          <a:off x="511728" y="1853965"/>
          <a:ext cx="11417419" cy="3791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713">
                  <a:extLst>
                    <a:ext uri="{9D8B030D-6E8A-4147-A177-3AD203B41FA5}">
                      <a16:colId xmlns:a16="http://schemas.microsoft.com/office/drawing/2014/main" val="2869374334"/>
                    </a:ext>
                  </a:extLst>
                </a:gridCol>
                <a:gridCol w="934495">
                  <a:extLst>
                    <a:ext uri="{9D8B030D-6E8A-4147-A177-3AD203B41FA5}">
                      <a16:colId xmlns:a16="http://schemas.microsoft.com/office/drawing/2014/main" val="1013268211"/>
                    </a:ext>
                  </a:extLst>
                </a:gridCol>
                <a:gridCol w="2230730">
                  <a:extLst>
                    <a:ext uri="{9D8B030D-6E8A-4147-A177-3AD203B41FA5}">
                      <a16:colId xmlns:a16="http://schemas.microsoft.com/office/drawing/2014/main" val="1219956204"/>
                    </a:ext>
                  </a:extLst>
                </a:gridCol>
                <a:gridCol w="2204352">
                  <a:extLst>
                    <a:ext uri="{9D8B030D-6E8A-4147-A177-3AD203B41FA5}">
                      <a16:colId xmlns:a16="http://schemas.microsoft.com/office/drawing/2014/main" val="2680688737"/>
                    </a:ext>
                  </a:extLst>
                </a:gridCol>
                <a:gridCol w="874205">
                  <a:extLst>
                    <a:ext uri="{9D8B030D-6E8A-4147-A177-3AD203B41FA5}">
                      <a16:colId xmlns:a16="http://schemas.microsoft.com/office/drawing/2014/main" val="3326916273"/>
                    </a:ext>
                  </a:extLst>
                </a:gridCol>
                <a:gridCol w="1115364">
                  <a:extLst>
                    <a:ext uri="{9D8B030D-6E8A-4147-A177-3AD203B41FA5}">
                      <a16:colId xmlns:a16="http://schemas.microsoft.com/office/drawing/2014/main" val="1263044743"/>
                    </a:ext>
                  </a:extLst>
                </a:gridCol>
                <a:gridCol w="1119133">
                  <a:extLst>
                    <a:ext uri="{9D8B030D-6E8A-4147-A177-3AD203B41FA5}">
                      <a16:colId xmlns:a16="http://schemas.microsoft.com/office/drawing/2014/main" val="507399783"/>
                    </a:ext>
                  </a:extLst>
                </a:gridCol>
                <a:gridCol w="994786">
                  <a:extLst>
                    <a:ext uri="{9D8B030D-6E8A-4147-A177-3AD203B41FA5}">
                      <a16:colId xmlns:a16="http://schemas.microsoft.com/office/drawing/2014/main" val="1237373518"/>
                    </a:ext>
                  </a:extLst>
                </a:gridCol>
                <a:gridCol w="964641">
                  <a:extLst>
                    <a:ext uri="{9D8B030D-6E8A-4147-A177-3AD203B41FA5}">
                      <a16:colId xmlns:a16="http://schemas.microsoft.com/office/drawing/2014/main" val="1315604490"/>
                    </a:ext>
                  </a:extLst>
                </a:gridCol>
              </a:tblGrid>
              <a:tr h="2956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217140"/>
                  </a:ext>
                </a:extLst>
              </a:tr>
              <a:tr h="582689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7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7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  <a:endParaRPr lang="en-AE" sz="7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431563"/>
                  </a:ext>
                </a:extLst>
              </a:tr>
              <a:tr h="582689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 smtClean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34586"/>
                  </a:ext>
                </a:extLst>
              </a:tr>
              <a:tr h="582689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Dubco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 smtClean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12,913.00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177386"/>
                  </a:ext>
                </a:extLst>
              </a:tr>
              <a:tr h="582689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Robodh Contracting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 smtClean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74,677.00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03936"/>
                  </a:ext>
                </a:extLst>
              </a:tr>
              <a:tr h="582689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Dinesh (</a:t>
                      </a:r>
                      <a:r>
                        <a:rPr lang="en-US" sz="700" u="none" strike="noStrike" dirty="0" err="1">
                          <a:effectLst/>
                        </a:rPr>
                        <a:t>Tihird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Pary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19,865.50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19,865.50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747909"/>
                  </a:ext>
                </a:extLst>
              </a:tr>
              <a:tr h="582689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Ameer (Third Paty)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537,372.50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63,803.00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52939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2332139" y="2265027"/>
            <a:ext cx="1233182" cy="3775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1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Expenses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Claim Amount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261413"/>
              </p:ext>
            </p:extLst>
          </p:nvPr>
        </p:nvGraphicFramePr>
        <p:xfrm>
          <a:off x="304597" y="2021741"/>
          <a:ext cx="11546976" cy="3590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96">
                  <a:extLst>
                    <a:ext uri="{9D8B030D-6E8A-4147-A177-3AD203B41FA5}">
                      <a16:colId xmlns:a16="http://schemas.microsoft.com/office/drawing/2014/main" val="3204434905"/>
                    </a:ext>
                  </a:extLst>
                </a:gridCol>
                <a:gridCol w="5582966">
                  <a:extLst>
                    <a:ext uri="{9D8B030D-6E8A-4147-A177-3AD203B41FA5}">
                      <a16:colId xmlns:a16="http://schemas.microsoft.com/office/drawing/2014/main" val="3024486655"/>
                    </a:ext>
                  </a:extLst>
                </a:gridCol>
                <a:gridCol w="1387178">
                  <a:extLst>
                    <a:ext uri="{9D8B030D-6E8A-4147-A177-3AD203B41FA5}">
                      <a16:colId xmlns:a16="http://schemas.microsoft.com/office/drawing/2014/main" val="2671906755"/>
                    </a:ext>
                  </a:extLst>
                </a:gridCol>
                <a:gridCol w="1387178">
                  <a:extLst>
                    <a:ext uri="{9D8B030D-6E8A-4147-A177-3AD203B41FA5}">
                      <a16:colId xmlns:a16="http://schemas.microsoft.com/office/drawing/2014/main" val="3911712296"/>
                    </a:ext>
                  </a:extLst>
                </a:gridCol>
                <a:gridCol w="822031">
                  <a:extLst>
                    <a:ext uri="{9D8B030D-6E8A-4147-A177-3AD203B41FA5}">
                      <a16:colId xmlns:a16="http://schemas.microsoft.com/office/drawing/2014/main" val="1491636385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1368771360"/>
                    </a:ext>
                  </a:extLst>
                </a:gridCol>
              </a:tblGrid>
              <a:tr h="199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Description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Category/Firm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Fees</a:t>
                      </a:r>
                      <a:r>
                        <a:rPr lang="en-US" sz="10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Type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>
                          <a:effectLst/>
                        </a:rPr>
                        <a:t>Expense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Remark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8242933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Sent 1000 for legal notice and 50 for courier fee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Legal Notice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1050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3372254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Legal Notice Translation </a:t>
                      </a:r>
                      <a:r>
                        <a:rPr lang="en-US" sz="900" u="none" strike="noStrike" dirty="0" err="1">
                          <a:effectLst/>
                        </a:rPr>
                        <a:t>Exp</a:t>
                      </a:r>
                      <a:r>
                        <a:rPr lang="en-US" sz="900" u="none" strike="noStrike" dirty="0">
                          <a:effectLst/>
                        </a:rPr>
                        <a:t> (18pages*50)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900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0998710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Court Fee paid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Court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30000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269578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Professional Fee paid our of 833837.5*10=83383(Balance 58383)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Professional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25000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7556630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Court </a:t>
                      </a:r>
                      <a:r>
                        <a:rPr lang="en-GB" sz="900" u="none" strike="noStrike" dirty="0" err="1">
                          <a:effectLst/>
                        </a:rPr>
                        <a:t>refered</a:t>
                      </a:r>
                      <a:r>
                        <a:rPr lang="en-GB" sz="900" u="none" strike="noStrike" dirty="0">
                          <a:effectLst/>
                        </a:rPr>
                        <a:t> the case to expert to study the file and submit the report and paid 10000 as Expert Fee.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Expert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10000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3064885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Paid for opening the file in Arbitration </a:t>
                      </a:r>
                      <a:r>
                        <a:rPr lang="en-GB" sz="900" u="none" strike="noStrike" dirty="0" err="1">
                          <a:effectLst/>
                        </a:rPr>
                        <a:t>Amt</a:t>
                      </a:r>
                      <a:r>
                        <a:rPr lang="en-GB" sz="900" u="none" strike="noStrike" dirty="0">
                          <a:effectLst/>
                        </a:rPr>
                        <a:t> 10,000 </a:t>
                      </a:r>
                      <a:r>
                        <a:rPr lang="en-GB" sz="900" u="none" strike="noStrike" dirty="0" err="1">
                          <a:effectLst/>
                        </a:rPr>
                        <a:t>dhs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Arbitration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10000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4557933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Document 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400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55067433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Arbitration Fee 68000 paid. ( Break down: 42,265 Arbitrators fees, 5735 Arbitrators </a:t>
                      </a:r>
                      <a:r>
                        <a:rPr lang="en-GB" sz="900" u="none" strike="noStrike" dirty="0" err="1">
                          <a:effectLst/>
                        </a:rPr>
                        <a:t>exp</a:t>
                      </a:r>
                      <a:r>
                        <a:rPr lang="en-GB" sz="900" u="none" strike="noStrike" dirty="0">
                          <a:effectLst/>
                        </a:rPr>
                        <a:t> and 20,000 for Administrative fees 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Arbitration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68000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12491392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Received 10 pages regarding case and translation fee paid to Advocate.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900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60221095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27/02/2018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Arbitration Award Report Translation Exp.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1125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7139253"/>
                  </a:ext>
                </a:extLst>
              </a:tr>
              <a:tr h="192544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00" b="1" u="none" strike="noStrike" dirty="0">
                          <a:effectLst/>
                        </a:rPr>
                        <a:t>147375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682059"/>
                  </a:ext>
                </a:extLst>
              </a:tr>
            </a:tbl>
          </a:graphicData>
        </a:graphic>
      </p:graphicFrame>
      <p:sp>
        <p:nvSpPr>
          <p:cNvPr id="18" name="Rectangle 17">
            <a:hlinkClick r:id="rId2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Expense</a:t>
            </a:r>
            <a:endParaRPr lang="en-US" sz="1200" b="1" dirty="0"/>
          </a:p>
        </p:txBody>
      </p:sp>
      <p:sp>
        <p:nvSpPr>
          <p:cNvPr id="19" name="Oval 18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0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Expenses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7" y="1052190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Date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563028" y="1432308"/>
            <a:ext cx="3591613" cy="4441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7" y="1433894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000" b="1" dirty="0"/>
              <a:t>Description</a:t>
            </a:r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63028" y="2119996"/>
            <a:ext cx="3591613" cy="222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611" y="2122421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US" sz="1000" b="1" dirty="0">
                <a:solidFill>
                  <a:srgbClr val="000000"/>
                </a:solidFill>
                <a:latin typeface="Calibri" panose="020F0502020204030204" pitchFamily="34" charset="0"/>
              </a:rPr>
              <a:t>Category/Firm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63028" y="2919259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984" y="2919259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Fees Type </a:t>
            </a:r>
            <a:endParaRPr lang="en-US"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1563028" y="2494700"/>
            <a:ext cx="3591613" cy="222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476" y="2493929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US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Firm</a:t>
            </a:r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hlinkClick r:id="rId2" action="ppaction://hlinksldjump"/>
          </p:cNvPr>
          <p:cNvSpPr/>
          <p:nvPr/>
        </p:nvSpPr>
        <p:spPr>
          <a:xfrm>
            <a:off x="5154641" y="4151920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</a:t>
            </a:r>
            <a:endParaRPr lang="en-US" sz="1200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7189365" y="103392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48330" y="1031792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Amount 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7189365" y="157157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46409" y="1557004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Attachment 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1551961" y="3165480"/>
            <a:ext cx="3516612" cy="17001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1548266" y="3165480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Court Fee</a:t>
            </a:r>
            <a:endParaRPr lang="en-US" sz="800" dirty="0">
              <a:latin typeface="+mj-lt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48266" y="3411701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Translation Fee</a:t>
            </a:r>
            <a:endParaRPr lang="en-US" sz="800" dirty="0">
              <a:latin typeface="+mj-l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548266" y="3656184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Legal Notice Fee</a:t>
            </a:r>
            <a:endParaRPr lang="en-US" sz="800" dirty="0">
              <a:latin typeface="+mj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551402" y="3892437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Notary Charges</a:t>
            </a:r>
            <a:endParaRPr lang="en-US" sz="800" dirty="0">
              <a:latin typeface="+mj-l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559791" y="4115045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Expert Fee</a:t>
            </a:r>
            <a:endParaRPr lang="en-US" sz="800" dirty="0">
              <a:latin typeface="+mj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551402" y="4351298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Professional Fee</a:t>
            </a:r>
            <a:endParaRPr lang="en-US" sz="800" dirty="0">
              <a:latin typeface="+mj-l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548266" y="4576713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Arbitration Fee</a:t>
            </a:r>
            <a:endParaRPr lang="en-US" sz="800" dirty="0">
              <a:latin typeface="+mj-lt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551401" y="4822934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>
                <a:latin typeface="+mj-lt"/>
              </a:rPr>
              <a:t>Success Fee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1401" y="5057449"/>
            <a:ext cx="3520307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Commission</a:t>
            </a:r>
            <a:endParaRPr lang="en-US" sz="800" dirty="0">
              <a:latin typeface="+mj-lt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104080" y="3863187"/>
            <a:ext cx="1691851" cy="8205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1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Expenses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Claim Amount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597" y="2021741"/>
          <a:ext cx="11546976" cy="3590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96">
                  <a:extLst>
                    <a:ext uri="{9D8B030D-6E8A-4147-A177-3AD203B41FA5}">
                      <a16:colId xmlns:a16="http://schemas.microsoft.com/office/drawing/2014/main" val="3204434905"/>
                    </a:ext>
                  </a:extLst>
                </a:gridCol>
                <a:gridCol w="5582966">
                  <a:extLst>
                    <a:ext uri="{9D8B030D-6E8A-4147-A177-3AD203B41FA5}">
                      <a16:colId xmlns:a16="http://schemas.microsoft.com/office/drawing/2014/main" val="3024486655"/>
                    </a:ext>
                  </a:extLst>
                </a:gridCol>
                <a:gridCol w="1387178">
                  <a:extLst>
                    <a:ext uri="{9D8B030D-6E8A-4147-A177-3AD203B41FA5}">
                      <a16:colId xmlns:a16="http://schemas.microsoft.com/office/drawing/2014/main" val="2671906755"/>
                    </a:ext>
                  </a:extLst>
                </a:gridCol>
                <a:gridCol w="1387178">
                  <a:extLst>
                    <a:ext uri="{9D8B030D-6E8A-4147-A177-3AD203B41FA5}">
                      <a16:colId xmlns:a16="http://schemas.microsoft.com/office/drawing/2014/main" val="3911712296"/>
                    </a:ext>
                  </a:extLst>
                </a:gridCol>
                <a:gridCol w="822031">
                  <a:extLst>
                    <a:ext uri="{9D8B030D-6E8A-4147-A177-3AD203B41FA5}">
                      <a16:colId xmlns:a16="http://schemas.microsoft.com/office/drawing/2014/main" val="1491636385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1368771360"/>
                    </a:ext>
                  </a:extLst>
                </a:gridCol>
              </a:tblGrid>
              <a:tr h="199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Description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Category/Firm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Fees</a:t>
                      </a:r>
                      <a:r>
                        <a:rPr lang="en-US" sz="10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Type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>
                          <a:effectLst/>
                        </a:rPr>
                        <a:t>Expense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Remark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8242933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Sent 1000 for legal notice and 50 for courier fee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Legal Notice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1050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3372254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Legal Notice Translation </a:t>
                      </a:r>
                      <a:r>
                        <a:rPr lang="en-US" sz="900" u="none" strike="noStrike" dirty="0" err="1">
                          <a:effectLst/>
                        </a:rPr>
                        <a:t>Exp</a:t>
                      </a:r>
                      <a:r>
                        <a:rPr lang="en-US" sz="900" u="none" strike="noStrike" dirty="0">
                          <a:effectLst/>
                        </a:rPr>
                        <a:t> (18pages*50)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900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0998710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Court Fee paid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Court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30000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269578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Professional Fee paid our of 833837.5*10=83383(Balance 58383)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Professional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25000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7556630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Court </a:t>
                      </a:r>
                      <a:r>
                        <a:rPr lang="en-GB" sz="900" u="none" strike="noStrike" dirty="0" err="1">
                          <a:effectLst/>
                        </a:rPr>
                        <a:t>refered</a:t>
                      </a:r>
                      <a:r>
                        <a:rPr lang="en-GB" sz="900" u="none" strike="noStrike" dirty="0">
                          <a:effectLst/>
                        </a:rPr>
                        <a:t> the case to expert to study the file and submit the report and paid 10000 as Expert Fee.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Expert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10000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3064885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Paid for opening the file in Arbitration </a:t>
                      </a:r>
                      <a:r>
                        <a:rPr lang="en-GB" sz="900" u="none" strike="noStrike" dirty="0" err="1">
                          <a:effectLst/>
                        </a:rPr>
                        <a:t>Amt</a:t>
                      </a:r>
                      <a:r>
                        <a:rPr lang="en-GB" sz="900" u="none" strike="noStrike" dirty="0">
                          <a:effectLst/>
                        </a:rPr>
                        <a:t> 10,000 </a:t>
                      </a:r>
                      <a:r>
                        <a:rPr lang="en-GB" sz="900" u="none" strike="noStrike" dirty="0" err="1">
                          <a:effectLst/>
                        </a:rPr>
                        <a:t>dhs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Arbitration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10000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4557933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Document 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400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55067433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Arbitration Fee 68000 paid. ( Break down: 42,265 Arbitrators fees, 5735 Arbitrators </a:t>
                      </a:r>
                      <a:r>
                        <a:rPr lang="en-GB" sz="900" u="none" strike="noStrike" dirty="0" err="1">
                          <a:effectLst/>
                        </a:rPr>
                        <a:t>exp</a:t>
                      </a:r>
                      <a:r>
                        <a:rPr lang="en-GB" sz="900" u="none" strike="noStrike" dirty="0">
                          <a:effectLst/>
                        </a:rPr>
                        <a:t> and 20,000 for Administrative fees 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Arbitration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68000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12491392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Received 10 pages regarding case and translation fee paid to Advocate.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>
                          <a:effectLst/>
                        </a:rPr>
                        <a:t>900</a:t>
                      </a:r>
                      <a:endParaRPr lang="en-AE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60221095"/>
                  </a:ext>
                </a:extLst>
              </a:tr>
              <a:tr h="319807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27/02/2018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Arbitration Award Report Translation Exp.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Translation Fee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1125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7139253"/>
                  </a:ext>
                </a:extLst>
              </a:tr>
              <a:tr h="192544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00" b="1" u="none" strike="noStrike" dirty="0">
                          <a:effectLst/>
                        </a:rPr>
                        <a:t>147375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682059"/>
                  </a:ext>
                </a:extLst>
              </a:tr>
            </a:tbl>
          </a:graphicData>
        </a:graphic>
      </p:graphicFrame>
      <p:sp>
        <p:nvSpPr>
          <p:cNvPr id="18" name="Rectangle 17">
            <a:hlinkClick r:id="rId2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 Expense</a:t>
            </a:r>
            <a:endParaRPr lang="en-US" sz="1200" b="1" dirty="0"/>
          </a:p>
        </p:txBody>
      </p:sp>
      <p:sp>
        <p:nvSpPr>
          <p:cNvPr id="3" name="Oval 2"/>
          <p:cNvSpPr/>
          <p:nvPr/>
        </p:nvSpPr>
        <p:spPr>
          <a:xfrm>
            <a:off x="2877424" y="268448"/>
            <a:ext cx="1216404" cy="5254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8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595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Expenses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7157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Claim Amount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057984"/>
              </p:ext>
            </p:extLst>
          </p:nvPr>
        </p:nvGraphicFramePr>
        <p:xfrm>
          <a:off x="304597" y="2021739"/>
          <a:ext cx="11546977" cy="1451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3239">
                  <a:extLst>
                    <a:ext uri="{9D8B030D-6E8A-4147-A177-3AD203B41FA5}">
                      <a16:colId xmlns:a16="http://schemas.microsoft.com/office/drawing/2014/main" val="3204434905"/>
                    </a:ext>
                  </a:extLst>
                </a:gridCol>
                <a:gridCol w="6345242">
                  <a:extLst>
                    <a:ext uri="{9D8B030D-6E8A-4147-A177-3AD203B41FA5}">
                      <a16:colId xmlns:a16="http://schemas.microsoft.com/office/drawing/2014/main" val="3024486655"/>
                    </a:ext>
                  </a:extLst>
                </a:gridCol>
                <a:gridCol w="1576578">
                  <a:extLst>
                    <a:ext uri="{9D8B030D-6E8A-4147-A177-3AD203B41FA5}">
                      <a16:colId xmlns:a16="http://schemas.microsoft.com/office/drawing/2014/main" val="2671906755"/>
                    </a:ext>
                  </a:extLst>
                </a:gridCol>
                <a:gridCol w="980776">
                  <a:extLst>
                    <a:ext uri="{9D8B030D-6E8A-4147-A177-3AD203B41FA5}">
                      <a16:colId xmlns:a16="http://schemas.microsoft.com/office/drawing/2014/main" val="1491636385"/>
                    </a:ext>
                  </a:extLst>
                </a:gridCol>
                <a:gridCol w="1491142">
                  <a:extLst>
                    <a:ext uri="{9D8B030D-6E8A-4147-A177-3AD203B41FA5}">
                      <a16:colId xmlns:a16="http://schemas.microsoft.com/office/drawing/2014/main" val="1368771360"/>
                    </a:ext>
                  </a:extLst>
                </a:gridCol>
              </a:tblGrid>
              <a:tr h="2145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Description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Category/Firm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Claim</a:t>
                      </a:r>
                      <a:r>
                        <a:rPr lang="en-US" sz="10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Received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Remark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8242933"/>
                  </a:ext>
                </a:extLst>
              </a:tr>
              <a:tr h="343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 smtClean="0">
                          <a:effectLst/>
                        </a:rPr>
                        <a:t>Claim</a:t>
                      </a:r>
                      <a:r>
                        <a:rPr lang="en-GB" sz="900" u="none" strike="noStrike" baseline="0" dirty="0" smtClean="0">
                          <a:effectLst/>
                        </a:rPr>
                        <a:t> Received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 smtClean="0">
                          <a:effectLst/>
                        </a:rPr>
                        <a:t>10000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3372254"/>
                  </a:ext>
                </a:extLst>
              </a:tr>
              <a:tr h="343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 smtClean="0">
                          <a:effectLst/>
                        </a:rPr>
                        <a:t>30/09/2018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 smtClean="0">
                          <a:effectLst/>
                        </a:rPr>
                        <a:t>Claim</a:t>
                      </a:r>
                      <a:r>
                        <a:rPr lang="en-GB" sz="900" u="none" strike="noStrike" baseline="0" dirty="0" smtClean="0">
                          <a:effectLst/>
                        </a:rPr>
                        <a:t> Received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 smtClean="0">
                          <a:effectLst/>
                        </a:rPr>
                        <a:t>150000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0998710"/>
                  </a:ext>
                </a:extLst>
              </a:tr>
              <a:tr h="343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 smtClean="0">
                          <a:effectLst/>
                        </a:rPr>
                        <a:t>30/09/2018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 smtClean="0">
                          <a:effectLst/>
                        </a:rPr>
                        <a:t>Claim</a:t>
                      </a:r>
                      <a:r>
                        <a:rPr lang="en-GB" sz="900" u="none" strike="noStrike" baseline="0" dirty="0" smtClean="0">
                          <a:effectLst/>
                        </a:rPr>
                        <a:t> Received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30000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269578"/>
                  </a:ext>
                </a:extLst>
              </a:tr>
              <a:tr h="20671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00" b="1" u="none" strike="noStrike" dirty="0">
                          <a:effectLst/>
                        </a:rPr>
                        <a:t>147375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682059"/>
                  </a:ext>
                </a:extLst>
              </a:tr>
            </a:tbl>
          </a:graphicData>
        </a:graphic>
      </p:graphicFrame>
      <p:sp>
        <p:nvSpPr>
          <p:cNvPr id="18" name="Rectangle 17">
            <a:hlinkClick r:id="rId2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Claim</a:t>
            </a:r>
            <a:endParaRPr lang="en-US" sz="1200" b="1" dirty="0"/>
          </a:p>
        </p:txBody>
      </p:sp>
      <p:sp>
        <p:nvSpPr>
          <p:cNvPr id="19" name="Oval 18"/>
          <p:cNvSpPr/>
          <p:nvPr/>
        </p:nvSpPr>
        <p:spPr>
          <a:xfrm>
            <a:off x="10008628" y="327475"/>
            <a:ext cx="1954635" cy="57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3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Claim Received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551963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25-10-2022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7" y="1052190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Date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563028" y="1432308"/>
            <a:ext cx="3591613" cy="4441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7" y="1433894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000" b="1" dirty="0"/>
              <a:t>Description</a:t>
            </a:r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63028" y="2119996"/>
            <a:ext cx="3591613" cy="222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611" y="2122421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US" sz="1000" b="1" dirty="0">
                <a:solidFill>
                  <a:srgbClr val="000000"/>
                </a:solidFill>
                <a:latin typeface="Calibri" panose="020F0502020204030204" pitchFamily="34" charset="0"/>
              </a:rPr>
              <a:t>Category/Firm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63028" y="2494700"/>
            <a:ext cx="3591613" cy="2225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476" y="2493929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US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Firm</a:t>
            </a:r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hlinkClick r:id="rId2" action="ppaction://hlinksldjump"/>
          </p:cNvPr>
          <p:cNvSpPr/>
          <p:nvPr/>
        </p:nvSpPr>
        <p:spPr>
          <a:xfrm>
            <a:off x="7728188" y="242531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Add</a:t>
            </a:r>
            <a:endParaRPr lang="en-US" sz="1200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7189365" y="103392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48330" y="1031792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Amount 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7189365" y="1571573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46409" y="1557004"/>
            <a:ext cx="1099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Attachment </a:t>
            </a:r>
            <a:endParaRPr lang="en-US" sz="1000" dirty="0"/>
          </a:p>
        </p:txBody>
      </p:sp>
      <p:sp>
        <p:nvSpPr>
          <p:cNvPr id="2" name="Oval 1"/>
          <p:cNvSpPr/>
          <p:nvPr/>
        </p:nvSpPr>
        <p:spPr>
          <a:xfrm>
            <a:off x="7175994" y="2148262"/>
            <a:ext cx="2654224" cy="9375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4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defRPr/>
            </a:pPr>
            <a:endParaRPr lang="en-AE" sz="800" b="1" dirty="0">
              <a:solidFill>
                <a:schemeClr val="dk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595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Expenses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7157" y="397147"/>
            <a:ext cx="2382562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 smtClean="0"/>
              <a:t>Claim Amount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597" y="2021739"/>
          <a:ext cx="11546977" cy="1451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3239">
                  <a:extLst>
                    <a:ext uri="{9D8B030D-6E8A-4147-A177-3AD203B41FA5}">
                      <a16:colId xmlns:a16="http://schemas.microsoft.com/office/drawing/2014/main" val="3204434905"/>
                    </a:ext>
                  </a:extLst>
                </a:gridCol>
                <a:gridCol w="6345242">
                  <a:extLst>
                    <a:ext uri="{9D8B030D-6E8A-4147-A177-3AD203B41FA5}">
                      <a16:colId xmlns:a16="http://schemas.microsoft.com/office/drawing/2014/main" val="3024486655"/>
                    </a:ext>
                  </a:extLst>
                </a:gridCol>
                <a:gridCol w="1576578">
                  <a:extLst>
                    <a:ext uri="{9D8B030D-6E8A-4147-A177-3AD203B41FA5}">
                      <a16:colId xmlns:a16="http://schemas.microsoft.com/office/drawing/2014/main" val="2671906755"/>
                    </a:ext>
                  </a:extLst>
                </a:gridCol>
                <a:gridCol w="980776">
                  <a:extLst>
                    <a:ext uri="{9D8B030D-6E8A-4147-A177-3AD203B41FA5}">
                      <a16:colId xmlns:a16="http://schemas.microsoft.com/office/drawing/2014/main" val="1491636385"/>
                    </a:ext>
                  </a:extLst>
                </a:gridCol>
                <a:gridCol w="1491142">
                  <a:extLst>
                    <a:ext uri="{9D8B030D-6E8A-4147-A177-3AD203B41FA5}">
                      <a16:colId xmlns:a16="http://schemas.microsoft.com/office/drawing/2014/main" val="1368771360"/>
                    </a:ext>
                  </a:extLst>
                </a:gridCol>
              </a:tblGrid>
              <a:tr h="2145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Description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Category/Firm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Claim</a:t>
                      </a:r>
                      <a:r>
                        <a:rPr lang="en-US" sz="10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Received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Remark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8242933"/>
                  </a:ext>
                </a:extLst>
              </a:tr>
              <a:tr h="343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>
                          <a:effectLst/>
                        </a:rPr>
                        <a:t>30/09/2017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 smtClean="0">
                          <a:effectLst/>
                        </a:rPr>
                        <a:t>Claim</a:t>
                      </a:r>
                      <a:r>
                        <a:rPr lang="en-GB" sz="900" u="none" strike="noStrike" baseline="0" dirty="0" smtClean="0">
                          <a:effectLst/>
                        </a:rPr>
                        <a:t> Received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 smtClean="0">
                          <a:effectLst/>
                        </a:rPr>
                        <a:t>10000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3372254"/>
                  </a:ext>
                </a:extLst>
              </a:tr>
              <a:tr h="343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 smtClean="0">
                          <a:effectLst/>
                        </a:rPr>
                        <a:t>30/09/2018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 smtClean="0">
                          <a:effectLst/>
                        </a:rPr>
                        <a:t>Claim</a:t>
                      </a:r>
                      <a:r>
                        <a:rPr lang="en-GB" sz="900" u="none" strike="noStrike" baseline="0" dirty="0" smtClean="0">
                          <a:effectLst/>
                        </a:rPr>
                        <a:t> Received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 smtClean="0">
                          <a:effectLst/>
                        </a:rPr>
                        <a:t>150000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0998710"/>
                  </a:ext>
                </a:extLst>
              </a:tr>
              <a:tr h="34333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900" u="none" strike="noStrike" dirty="0" smtClean="0">
                          <a:effectLst/>
                        </a:rPr>
                        <a:t>30/09/2018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 smtClean="0">
                          <a:effectLst/>
                        </a:rPr>
                        <a:t>Claim</a:t>
                      </a:r>
                      <a:r>
                        <a:rPr lang="en-GB" sz="900" u="none" strike="noStrike" baseline="0" dirty="0" smtClean="0">
                          <a:effectLst/>
                        </a:rPr>
                        <a:t> Received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Al</a:t>
                      </a:r>
                      <a:r>
                        <a:rPr lang="en-AE" sz="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Shafar &amp; Associate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(Legal Firm)</a:t>
                      </a:r>
                      <a:endParaRPr lang="en-AE" sz="800" b="0" i="0" u="none" strike="noStrike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900" u="none" strike="noStrike" dirty="0">
                          <a:effectLst/>
                        </a:rPr>
                        <a:t>30000</a:t>
                      </a:r>
                      <a:endParaRPr lang="en-AE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269578"/>
                  </a:ext>
                </a:extLst>
              </a:tr>
              <a:tr h="20671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</a:rPr>
                        <a:t>Total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00" b="1" u="none" strike="noStrike" dirty="0">
                          <a:effectLst/>
                        </a:rPr>
                        <a:t>147375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682059"/>
                  </a:ext>
                </a:extLst>
              </a:tr>
            </a:tbl>
          </a:graphicData>
        </a:graphic>
      </p:graphicFrame>
      <p:sp>
        <p:nvSpPr>
          <p:cNvPr id="18" name="Rectangle 17">
            <a:hlinkClick r:id="rId2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Claim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0048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26332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783" y="2041986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&amp;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651" y="2584924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69788" y="2579428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3141821"/>
            <a:ext cx="1815335" cy="9343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30" y="3666106"/>
            <a:ext cx="1203539" cy="2693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74906" y="3678945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Team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2927055" y="2066738"/>
            <a:ext cx="1575278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919025" y="2566957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9302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 smtClean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 err="1">
                          <a:effectLst/>
                        </a:rPr>
                        <a:t>Aneesh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Dubco</a:t>
                      </a:r>
                      <a:r>
                        <a:rPr lang="en-US" sz="700" u="none" strike="noStrike" dirty="0">
                          <a:effectLst/>
                        </a:rPr>
                        <a:t> Contracting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Robodh</a:t>
                      </a:r>
                      <a:r>
                        <a:rPr lang="en-US" sz="700" u="none" strike="noStrike" dirty="0">
                          <a:effectLst/>
                        </a:rPr>
                        <a:t> Contracting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74,677.00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Dinesh (</a:t>
                      </a:r>
                      <a:r>
                        <a:rPr lang="en-US" sz="700" u="none" strike="noStrike" dirty="0" err="1">
                          <a:effectLst/>
                        </a:rPr>
                        <a:t>Tihird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Pary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19,865.50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019940" y="3001158"/>
            <a:ext cx="264620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3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984" y="509989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Anju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Marketing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/>
              <a:t>Al Rajhi Construction LLC</a:t>
            </a:r>
            <a:endParaRPr lang="en-US" sz="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Client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dirty="0" smtClean="0">
                <a:solidFill>
                  <a:srgbClr val="656D78"/>
                </a:solidFill>
                <a:latin typeface="Arial" panose="020B0604020202020204" pitchFamily="34" charset="0"/>
              </a:rPr>
              <a:t>Legal Firm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Category</a:t>
            </a:r>
            <a:endParaRPr lang="en-US" sz="10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526011" y="4875842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83589" y="4344641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141" y="4517293"/>
            <a:ext cx="971600" cy="27941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89" y="4927443"/>
            <a:ext cx="268988" cy="1050333"/>
          </a:xfrm>
          <a:prstGeom prst="rect">
            <a:avLst/>
          </a:prstGeom>
        </p:spPr>
      </p:pic>
      <p:pic>
        <p:nvPicPr>
          <p:cNvPr id="63" name="Picture 62" descr="forms - &lt;strong&gt;Submit&lt;/strong&gt; and Reset &lt;strong&gt;button&lt;/strong&gt;, what's the best order? - User ...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/>
              <a:t>Al Shafar &amp; Associate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Firm/Party/Debt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2810313"/>
            <a:ext cx="3591613" cy="83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7" y="279496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6" action="ppaction://hlinksldjump"/>
          </p:cNvPr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Client Documents</a:t>
            </a:r>
            <a:endParaRPr lang="en-US" sz="1050" dirty="0"/>
          </a:p>
        </p:txBody>
      </p:sp>
      <p:sp>
        <p:nvSpPr>
          <p:cNvPr id="2" name="Line Callout 3 (No Border) 1"/>
          <p:cNvSpPr/>
          <p:nvPr/>
        </p:nvSpPr>
        <p:spPr>
          <a:xfrm>
            <a:off x="5266998" y="1853559"/>
            <a:ext cx="1144407" cy="674265"/>
          </a:xfrm>
          <a:prstGeom prst="callout3">
            <a:avLst>
              <a:gd name="adj1" fmla="val 51645"/>
              <a:gd name="adj2" fmla="val -62"/>
              <a:gd name="adj3" fmla="val 37738"/>
              <a:gd name="adj4" fmla="val -16165"/>
              <a:gd name="adj5" fmla="val 61306"/>
              <a:gd name="adj6" fmla="val -11905"/>
              <a:gd name="adj7" fmla="val 40321"/>
              <a:gd name="adj8" fmla="val -2261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84445" y="1937555"/>
            <a:ext cx="10698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Third Party</a:t>
            </a:r>
          </a:p>
          <a:p>
            <a:r>
              <a:rPr lang="en-US" sz="1050" dirty="0" smtClean="0"/>
              <a:t>Debt Collector</a:t>
            </a:r>
            <a:br>
              <a:rPr lang="en-US" sz="1050" dirty="0" smtClean="0"/>
            </a:br>
            <a:r>
              <a:rPr lang="en-US" sz="1050" dirty="0" smtClean="0"/>
              <a:t>Legal Firm</a:t>
            </a:r>
            <a:endParaRPr lang="en-US" sz="1050" dirty="0"/>
          </a:p>
        </p:txBody>
      </p:sp>
      <p:sp>
        <p:nvSpPr>
          <p:cNvPr id="70" name="Rectangle 69"/>
          <p:cNvSpPr/>
          <p:nvPr/>
        </p:nvSpPr>
        <p:spPr>
          <a:xfrm>
            <a:off x="6678544" y="1057419"/>
            <a:ext cx="4948762" cy="1485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1074796"/>
            <a:ext cx="276264" cy="2476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30118" y="1057655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OUT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E6AD4B"/>
                </a:solidFill>
              </a:rPr>
              <a:t>STANDING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927023" y="131526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87116" y="1231079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75" name="TextBox 74"/>
          <p:cNvSpPr txBox="1"/>
          <p:nvPr/>
        </p:nvSpPr>
        <p:spPr>
          <a:xfrm>
            <a:off x="6787116" y="1667551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6787116" y="2108700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77" name="Rectangle 76"/>
          <p:cNvSpPr/>
          <p:nvPr/>
        </p:nvSpPr>
        <p:spPr>
          <a:xfrm>
            <a:off x="7927023" y="1693407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7023" y="212285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2603057"/>
            <a:ext cx="276264" cy="2476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930118" y="258591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185268"/>
            <a:ext cx="276264" cy="2476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30118" y="3168127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BALANCE CLAIM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927023" y="284269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927023" y="3474456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894330"/>
            <a:ext cx="276264" cy="2476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30118" y="3877189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EXPENSE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927023" y="4183518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89" name="TextBox 88">
            <a:hlinkClick r:id="rId8" action="ppaction://hlinksldjump"/>
          </p:cNvPr>
          <p:cNvSpPr txBox="1"/>
          <p:nvPr/>
        </p:nvSpPr>
        <p:spPr>
          <a:xfrm>
            <a:off x="5340283" y="392013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Commission</a:t>
            </a:r>
            <a:endParaRPr lang="en-US" sz="1050" dirty="0"/>
          </a:p>
        </p:txBody>
      </p:sp>
      <p:sp>
        <p:nvSpPr>
          <p:cNvPr id="7" name="Oval 6"/>
          <p:cNvSpPr/>
          <p:nvPr/>
        </p:nvSpPr>
        <p:spPr>
          <a:xfrm>
            <a:off x="5285543" y="341239"/>
            <a:ext cx="1124581" cy="3450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 Firm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405021" y="387291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 dirty="0" smtClean="0"/>
              <a:t>Closed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7584" y="3881339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Status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4542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pic>
        <p:nvPicPr>
          <p:cNvPr id="43" name="Picture 42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26332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783" y="2041986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&amp;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651" y="2584924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69788" y="2579428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3141821"/>
            <a:ext cx="1815335" cy="9343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30" y="3666106"/>
            <a:ext cx="1203539" cy="2693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74906" y="3678945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Team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2927055" y="2066738"/>
            <a:ext cx="1575278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919025" y="2566957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87720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66834"/>
              </p:ext>
            </p:extLst>
          </p:nvPr>
        </p:nvGraphicFramePr>
        <p:xfrm>
          <a:off x="369117" y="2552794"/>
          <a:ext cx="11417417" cy="8593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 smtClean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Closed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8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209" y="437356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1" y="451598"/>
            <a:ext cx="1467753" cy="292126"/>
          </a:xfrm>
          <a:prstGeom prst="rect">
            <a:avLst/>
          </a:prstGeom>
        </p:spPr>
      </p:pic>
      <p:pic>
        <p:nvPicPr>
          <p:cNvPr id="8" name="Picture 7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" y="856438"/>
            <a:ext cx="1815335" cy="934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1375196"/>
            <a:ext cx="1203539" cy="2693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3709" y="1383818"/>
            <a:ext cx="11995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Client</a:t>
            </a:r>
            <a:endParaRPr lang="en-US" sz="105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872886"/>
            <a:ext cx="1809080" cy="931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99" y="1414791"/>
            <a:ext cx="1203539" cy="269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8195" y="1392071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Third Parry</a:t>
            </a:r>
            <a:endParaRPr lang="en-US" sz="105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33" y="870461"/>
            <a:ext cx="1813791" cy="9335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120" y="1414791"/>
            <a:ext cx="1203539" cy="2693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9333" y="140449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Firm</a:t>
            </a:r>
            <a:endParaRPr lang="en-US" sz="105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857944"/>
            <a:ext cx="1812409" cy="9328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10" y="1414791"/>
            <a:ext cx="1203539" cy="2693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4539" y="1417739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Debt Collector</a:t>
            </a:r>
            <a:endParaRPr lang="en-US" sz="105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872557"/>
            <a:ext cx="1793685" cy="923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752" y="1440193"/>
            <a:ext cx="976546" cy="2185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5731" y="1369396"/>
            <a:ext cx="17922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Active Legal</a:t>
            </a:r>
            <a:endParaRPr lang="en-US" sz="1050" b="1" dirty="0"/>
          </a:p>
        </p:txBody>
      </p:sp>
      <p:pic>
        <p:nvPicPr>
          <p:cNvPr id="43" name="Picture 42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2041986"/>
            <a:ext cx="1809080" cy="93114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44" y="2026332"/>
            <a:ext cx="1813791" cy="93356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20" y="2027044"/>
            <a:ext cx="1812409" cy="932857"/>
          </a:xfrm>
          <a:prstGeom prst="rect">
            <a:avLst/>
          </a:prstGeom>
        </p:spPr>
      </p:pic>
      <p:pic>
        <p:nvPicPr>
          <p:cNvPr id="46" name="Picture 4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783" y="2041986"/>
            <a:ext cx="1793685" cy="923220"/>
          </a:xfrm>
          <a:prstGeom prst="rect">
            <a:avLst/>
          </a:prstGeom>
        </p:spPr>
      </p:pic>
      <p:pic>
        <p:nvPicPr>
          <p:cNvPr id="42" name="Picture 41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2017739"/>
            <a:ext cx="1815335" cy="9343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31" y="2585472"/>
            <a:ext cx="1203539" cy="2693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125" y="2585472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Action Report</a:t>
            </a:r>
            <a:endParaRPr lang="en-US" sz="1050" b="1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580" y="2608347"/>
            <a:ext cx="1203539" cy="26938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924" y="2551492"/>
            <a:ext cx="1203539" cy="26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6590" y="2562346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Claim &amp; Expense</a:t>
            </a:r>
            <a:endParaRPr lang="en-US" sz="10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651" y="2584924"/>
            <a:ext cx="1203539" cy="2693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69788" y="2579428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Total </a:t>
            </a:r>
            <a:r>
              <a:rPr lang="en-US" sz="1050" b="1" dirty="0"/>
              <a:t>Legal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35" y="2610597"/>
            <a:ext cx="1203539" cy="2693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2743" y="2592657"/>
            <a:ext cx="1116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Closed </a:t>
            </a:r>
            <a:r>
              <a:rPr lang="en-US" sz="1050" b="1" dirty="0"/>
              <a:t>Legal</a:t>
            </a:r>
          </a:p>
        </p:txBody>
      </p:sp>
      <p:pic>
        <p:nvPicPr>
          <p:cNvPr id="47" name="Picture 4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0" y="3139568"/>
            <a:ext cx="1815335" cy="9343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9" y="3705816"/>
            <a:ext cx="1203539" cy="26938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7" y="3663480"/>
            <a:ext cx="1203539" cy="26938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5285" y="3668594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Commission Report</a:t>
            </a:r>
            <a:endParaRPr lang="en-US" sz="1050" b="1" dirty="0"/>
          </a:p>
        </p:txBody>
      </p:sp>
      <p:sp>
        <p:nvSpPr>
          <p:cNvPr id="49" name="Rectangle 48"/>
          <p:cNvSpPr/>
          <p:nvPr/>
        </p:nvSpPr>
        <p:spPr>
          <a:xfrm>
            <a:off x="447209" y="4121139"/>
            <a:ext cx="11546977" cy="25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rgbClr val="FF0000"/>
                </a:solidFill>
              </a:rPr>
              <a:t>Notifications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181" y="4372808"/>
            <a:ext cx="11526005" cy="134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81" y="4372808"/>
          <a:ext cx="11526006" cy="466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386">
                  <a:extLst>
                    <a:ext uri="{9D8B030D-6E8A-4147-A177-3AD203B41FA5}">
                      <a16:colId xmlns:a16="http://schemas.microsoft.com/office/drawing/2014/main" val="3219509427"/>
                    </a:ext>
                  </a:extLst>
                </a:gridCol>
                <a:gridCol w="2315693">
                  <a:extLst>
                    <a:ext uri="{9D8B030D-6E8A-4147-A177-3AD203B41FA5}">
                      <a16:colId xmlns:a16="http://schemas.microsoft.com/office/drawing/2014/main" val="1408000337"/>
                    </a:ext>
                  </a:extLst>
                </a:gridCol>
                <a:gridCol w="2787824">
                  <a:extLst>
                    <a:ext uri="{9D8B030D-6E8A-4147-A177-3AD203B41FA5}">
                      <a16:colId xmlns:a16="http://schemas.microsoft.com/office/drawing/2014/main" val="2715755324"/>
                    </a:ext>
                  </a:extLst>
                </a:gridCol>
                <a:gridCol w="2045905">
                  <a:extLst>
                    <a:ext uri="{9D8B030D-6E8A-4147-A177-3AD203B41FA5}">
                      <a16:colId xmlns:a16="http://schemas.microsoft.com/office/drawing/2014/main" val="2553152970"/>
                    </a:ext>
                  </a:extLst>
                </a:gridCol>
                <a:gridCol w="2308198">
                  <a:extLst>
                    <a:ext uri="{9D8B030D-6E8A-4147-A177-3AD203B41FA5}">
                      <a16:colId xmlns:a16="http://schemas.microsoft.com/office/drawing/2014/main" val="3587311478"/>
                    </a:ext>
                  </a:extLst>
                </a:gridCol>
              </a:tblGrid>
              <a:tr h="18642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Hearing Date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Case No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Client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</a:rPr>
                        <a:t>Firm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 err="1">
                          <a:effectLst/>
                        </a:rPr>
                        <a:t>Feeb</a:t>
                      </a:r>
                      <a:r>
                        <a:rPr lang="en-US" sz="900" b="1" u="none" strike="noStrike" dirty="0">
                          <a:effectLst/>
                        </a:rPr>
                        <a:t> back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667045"/>
                  </a:ext>
                </a:extLst>
              </a:tr>
              <a:tr h="279637">
                <a:tc>
                  <a:txBody>
                    <a:bodyPr/>
                    <a:lstStyle/>
                    <a:p>
                      <a:pPr algn="l" fontAlgn="b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31/01/2023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590/2019, 990/2018</a:t>
                      </a:r>
                      <a:endParaRPr lang="en-AE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Rajhi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Construction LLC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 </a:t>
                      </a:r>
                      <a:r>
                        <a:rPr lang="en-US" sz="9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Kabban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&amp; Associates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Pending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30702"/>
                  </a:ext>
                </a:extLst>
              </a:tr>
            </a:tbl>
          </a:graphicData>
        </a:graphic>
      </p:graphicFrame>
      <p:pic>
        <p:nvPicPr>
          <p:cNvPr id="50" name="Picture 4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599" y="3141821"/>
            <a:ext cx="1815335" cy="9343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30" y="3666106"/>
            <a:ext cx="1203539" cy="2693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574906" y="3678945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Legal Team</a:t>
            </a:r>
            <a:endParaRPr lang="en-US" sz="1050" b="1" dirty="0"/>
          </a:p>
        </p:txBody>
      </p:sp>
      <p:sp>
        <p:nvSpPr>
          <p:cNvPr id="3" name="Oval 2"/>
          <p:cNvSpPr/>
          <p:nvPr/>
        </p:nvSpPr>
        <p:spPr>
          <a:xfrm>
            <a:off x="5206099" y="2024646"/>
            <a:ext cx="1575278" cy="8296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919025" y="2566957"/>
            <a:ext cx="22088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Bad Debts Report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59654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9117" y="2552794"/>
          <a:ext cx="11417417" cy="3709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 smtClean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 err="1">
                          <a:effectLst/>
                        </a:rPr>
                        <a:t>Aneesh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Emco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Bldg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Cont</a:t>
                      </a:r>
                      <a:r>
                        <a:rPr lang="en-US" sz="700" u="none" strike="noStrike" dirty="0">
                          <a:effectLst/>
                        </a:rPr>
                        <a:t>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>
                          <a:effectLst/>
                        </a:rPr>
                        <a:t>           149,677.00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149,677.00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            -  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24,024.00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court has been adjourned to 05 Apr 2015 for resummoning the defendant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5052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Dubco</a:t>
                      </a:r>
                      <a:r>
                        <a:rPr lang="en-US" sz="700" u="none" strike="noStrike" dirty="0">
                          <a:effectLst/>
                        </a:rPr>
                        <a:t> Contracting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          -  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12,913.00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Expert already submitted the report in favour of us , and this case shall refer to Arbitration centre and for this a meeting is required in between MD and Mr.shamshudeen.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0769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Aneesh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Robodh</a:t>
                      </a:r>
                      <a:r>
                        <a:rPr lang="en-US" sz="700" u="none" strike="noStrike" dirty="0">
                          <a:effectLst/>
                        </a:rPr>
                        <a:t> Contracting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(Legal Firm)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Close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74,677.00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26,535.00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48,142.00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15,524.00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18-04-17 Arbitrator Meeting, then 19-05-17-Meeting of </a:t>
                      </a:r>
                      <a:r>
                        <a:rPr lang="en-GB" sz="700" u="none" strike="noStrike" dirty="0" err="1">
                          <a:effectLst/>
                        </a:rPr>
                        <a:t>AlRajhi</a:t>
                      </a:r>
                      <a:r>
                        <a:rPr lang="en-GB" sz="700" u="none" strike="noStrike" dirty="0">
                          <a:effectLst/>
                        </a:rPr>
                        <a:t> for their reply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8740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Pranitha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>
                          <a:effectLst/>
                        </a:rPr>
                        <a:t>Thomas Bennett Group Of Companies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Dinesh (</a:t>
                      </a:r>
                      <a:r>
                        <a:rPr lang="en-US" sz="700" u="none" strike="noStrike" dirty="0" err="1">
                          <a:effectLst/>
                        </a:rPr>
                        <a:t>Tihird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en-US" sz="700" u="none" strike="noStrike" dirty="0" err="1">
                          <a:effectLst/>
                        </a:rPr>
                        <a:t>Pary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Open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  19,865.50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19,865.50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  7,705.00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There is an order to attach the vehicles of the company. Email Received on 26-01-2020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>
                          <a:effectLst/>
                        </a:rPr>
                        <a:t> 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2163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Shaheena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Kaveri General Contracting Co LLC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Ameer (Third </a:t>
                      </a:r>
                      <a:r>
                        <a:rPr lang="en-US" sz="700" u="none" strike="noStrike" dirty="0" err="1">
                          <a:effectLst/>
                        </a:rPr>
                        <a:t>Paty</a:t>
                      </a:r>
                      <a:r>
                        <a:rPr lang="en-US" sz="700" u="none" strike="noStrike" dirty="0">
                          <a:effectLst/>
                        </a:rPr>
                        <a:t>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Open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537,372.50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>
                          <a:effectLst/>
                        </a:rPr>
                        <a:t>         63,803.00 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>
                          <a:effectLst/>
                        </a:rPr>
                        <a:t>25/05/2022</a:t>
                      </a:r>
                      <a:endParaRPr lang="en-AE" sz="7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we would like to inform you that the Al </a:t>
                      </a:r>
                      <a:r>
                        <a:rPr lang="en-GB" sz="700" u="none" strike="noStrike" dirty="0" err="1">
                          <a:effectLst/>
                        </a:rPr>
                        <a:t>Rajhi</a:t>
                      </a:r>
                      <a:r>
                        <a:rPr lang="en-GB" sz="700" u="none" strike="noStrike" dirty="0">
                          <a:effectLst/>
                        </a:rPr>
                        <a:t> Case has been adjourned to 23/04/2018 for the first hearing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0280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545572"/>
            <a:ext cx="231856" cy="21139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545572"/>
            <a:ext cx="205145" cy="21176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551583"/>
            <a:ext cx="225926" cy="20538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539677"/>
            <a:ext cx="246658" cy="21729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4119202"/>
            <a:ext cx="231856" cy="21139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4119202"/>
            <a:ext cx="205145" cy="2117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4125213"/>
            <a:ext cx="225926" cy="20538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4113307"/>
            <a:ext cx="246658" cy="21729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160" y="4702382"/>
            <a:ext cx="231856" cy="21139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024" y="4702382"/>
            <a:ext cx="205145" cy="2117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0478" y="4708393"/>
            <a:ext cx="225926" cy="20538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0485" y="4696487"/>
            <a:ext cx="246658" cy="21729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210806"/>
            <a:ext cx="231856" cy="21139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210806"/>
            <a:ext cx="205145" cy="21176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216817"/>
            <a:ext cx="225926" cy="20538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947" y="5204911"/>
            <a:ext cx="246658" cy="21729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622" y="5799414"/>
            <a:ext cx="231856" cy="2113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0486" y="5799414"/>
            <a:ext cx="205145" cy="21176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940" y="5805425"/>
            <a:ext cx="225926" cy="2053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947" y="5793519"/>
            <a:ext cx="246658" cy="2172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019940" y="3001158"/>
            <a:ext cx="264620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2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984" y="509989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5026" y="1033928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>
                <a:latin typeface="+mj-lt"/>
              </a:rPr>
              <a:t>TP101</a:t>
            </a:r>
            <a:endParaRPr lang="en-US" sz="8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2919" y="1033928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Code</a:t>
            </a:r>
            <a:endParaRPr lang="en-US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1405026" y="136414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 b="0" i="0" u="none" strike="noStrike" dirty="0" smtClean="0">
                <a:solidFill>
                  <a:srgbClr val="656D78"/>
                </a:solidFill>
                <a:effectLst/>
                <a:latin typeface="Arial" panose="020B0604020202020204" pitchFamily="34" charset="0"/>
              </a:rPr>
              <a:t>Anju</a:t>
            </a:r>
            <a:endParaRPr lang="en-US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919" y="1364145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Marketing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405026" y="1708040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US" sz="800"/>
              <a:t>Al Rajhi Construction LLC</a:t>
            </a:r>
            <a:endParaRPr lang="en-US" sz="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919" y="1708040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Client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405026" y="2038257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r>
              <a:rPr lang="en-AE" sz="800" dirty="0" smtClean="0">
                <a:solidFill>
                  <a:srgbClr val="656D78"/>
                </a:solidFill>
                <a:latin typeface="Arial" panose="020B0604020202020204" pitchFamily="34" charset="0"/>
              </a:rPr>
              <a:t>Legal Firm</a:t>
            </a:r>
            <a:endParaRPr lang="en-AE" sz="800" b="0" i="0" u="none" strike="noStrike" dirty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919" y="2038257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Category</a:t>
            </a:r>
            <a:endParaRPr lang="en-US" sz="10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526011" y="4875842"/>
          <a:ext cx="5885394" cy="1101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899">
                  <a:extLst>
                    <a:ext uri="{9D8B030D-6E8A-4147-A177-3AD203B41FA5}">
                      <a16:colId xmlns:a16="http://schemas.microsoft.com/office/drawing/2014/main" val="992869026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28346113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143017942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219317604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3542890331"/>
                    </a:ext>
                  </a:extLst>
                </a:gridCol>
                <a:gridCol w="980899">
                  <a:extLst>
                    <a:ext uri="{9D8B030D-6E8A-4147-A177-3AD203B41FA5}">
                      <a16:colId xmlns:a16="http://schemas.microsoft.com/office/drawing/2014/main" val="1981262553"/>
                    </a:ext>
                  </a:extLst>
                </a:gridCol>
              </a:tblGrid>
              <a:tr h="2754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effectLst/>
                        </a:rPr>
                        <a:t>Sl</a:t>
                      </a:r>
                      <a:r>
                        <a:rPr lang="en-US" sz="1000" u="none" strike="noStrike" dirty="0">
                          <a:effectLst/>
                        </a:rPr>
                        <a:t> No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Name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Contact Number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Email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Profession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Visiting Card</a:t>
                      </a:r>
                      <a:endParaRPr 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825303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4798863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8875400"/>
                  </a:ext>
                </a:extLst>
              </a:tr>
              <a:tr h="275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455692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83589" y="4344641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Contact Details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141" y="4517293"/>
            <a:ext cx="971600" cy="27941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89" y="4927443"/>
            <a:ext cx="268988" cy="1050333"/>
          </a:xfrm>
          <a:prstGeom prst="rect">
            <a:avLst/>
          </a:prstGeom>
        </p:spPr>
      </p:pic>
      <p:pic>
        <p:nvPicPr>
          <p:cNvPr id="63" name="Picture 62" descr="forms - &lt;strong&gt;Submit&lt;/strong&gt; and Reset &lt;strong&gt;button&lt;/strong&gt;, what's the best order? - User ...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556" y="5970691"/>
            <a:ext cx="1693034" cy="406021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405024" y="2367075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/>
              <a:t>Al Shafar &amp; Associate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2917" y="2367075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Firm/Party/Debt</a:t>
            </a:r>
            <a:endParaRPr lang="en-US" sz="1000" dirty="0"/>
          </a:p>
        </p:txBody>
      </p:sp>
      <p:sp>
        <p:nvSpPr>
          <p:cNvPr id="62" name="Rounded Rectangle 61"/>
          <p:cNvSpPr/>
          <p:nvPr/>
        </p:nvSpPr>
        <p:spPr>
          <a:xfrm>
            <a:off x="1405022" y="2810313"/>
            <a:ext cx="3591613" cy="83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US" sz="800" b="0" i="0" u="none" strike="noStrike" dirty="0" smtClean="0">
              <a:solidFill>
                <a:srgbClr val="656D78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2917" y="2794966"/>
            <a:ext cx="952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Notes</a:t>
            </a:r>
            <a:endParaRPr 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304595" y="384785"/>
            <a:ext cx="11546977" cy="2863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683" y="397147"/>
            <a:ext cx="2382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Information</a:t>
            </a:r>
          </a:p>
        </p:txBody>
      </p:sp>
      <p:sp>
        <p:nvSpPr>
          <p:cNvPr id="68" name="TextBox 67">
            <a:hlinkClick r:id="rId6" action="ppaction://hlinksldjump"/>
          </p:cNvPr>
          <p:cNvSpPr txBox="1"/>
          <p:nvPr/>
        </p:nvSpPr>
        <p:spPr>
          <a:xfrm>
            <a:off x="2949332" y="397147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Client Documents</a:t>
            </a:r>
            <a:endParaRPr lang="en-US" sz="1050" dirty="0"/>
          </a:p>
        </p:txBody>
      </p:sp>
      <p:sp>
        <p:nvSpPr>
          <p:cNvPr id="2" name="Line Callout 3 (No Border) 1"/>
          <p:cNvSpPr/>
          <p:nvPr/>
        </p:nvSpPr>
        <p:spPr>
          <a:xfrm>
            <a:off x="5266998" y="1853559"/>
            <a:ext cx="1144407" cy="674265"/>
          </a:xfrm>
          <a:prstGeom prst="callout3">
            <a:avLst>
              <a:gd name="adj1" fmla="val 51645"/>
              <a:gd name="adj2" fmla="val -62"/>
              <a:gd name="adj3" fmla="val 37738"/>
              <a:gd name="adj4" fmla="val -16165"/>
              <a:gd name="adj5" fmla="val 61306"/>
              <a:gd name="adj6" fmla="val -11905"/>
              <a:gd name="adj7" fmla="val 40321"/>
              <a:gd name="adj8" fmla="val -2261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84445" y="1937555"/>
            <a:ext cx="10698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Third Party</a:t>
            </a:r>
          </a:p>
          <a:p>
            <a:r>
              <a:rPr lang="en-US" sz="1050" dirty="0" smtClean="0"/>
              <a:t>Debt Collector</a:t>
            </a:r>
            <a:br>
              <a:rPr lang="en-US" sz="1050" dirty="0" smtClean="0"/>
            </a:br>
            <a:r>
              <a:rPr lang="en-US" sz="1050" dirty="0" smtClean="0"/>
              <a:t>Legal Firm</a:t>
            </a:r>
            <a:endParaRPr lang="en-US" sz="1050" dirty="0"/>
          </a:p>
        </p:txBody>
      </p:sp>
      <p:sp>
        <p:nvSpPr>
          <p:cNvPr id="70" name="Rectangle 69"/>
          <p:cNvSpPr/>
          <p:nvPr/>
        </p:nvSpPr>
        <p:spPr>
          <a:xfrm>
            <a:off x="6678544" y="1057419"/>
            <a:ext cx="4948762" cy="1485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1074796"/>
            <a:ext cx="276264" cy="2476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30118" y="1057655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OUT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E6AD4B"/>
                </a:solidFill>
              </a:rPr>
              <a:t>STANDING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927023" y="131526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87116" y="1231079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Total Outstanding</a:t>
            </a:r>
            <a:endParaRPr lang="en-US" sz="900" dirty="0"/>
          </a:p>
        </p:txBody>
      </p:sp>
      <p:sp>
        <p:nvSpPr>
          <p:cNvPr id="75" name="TextBox 74"/>
          <p:cNvSpPr txBox="1"/>
          <p:nvPr/>
        </p:nvSpPr>
        <p:spPr>
          <a:xfrm>
            <a:off x="6787116" y="1667551"/>
            <a:ext cx="9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 cheque</a:t>
            </a:r>
            <a:endParaRPr lang="en-US" sz="900" dirty="0"/>
          </a:p>
        </p:txBody>
      </p:sp>
      <p:sp>
        <p:nvSpPr>
          <p:cNvPr id="76" name="TextBox 75"/>
          <p:cNvSpPr txBox="1"/>
          <p:nvPr/>
        </p:nvSpPr>
        <p:spPr>
          <a:xfrm>
            <a:off x="6787116" y="2108700"/>
            <a:ext cx="119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 smtClean="0"/>
              <a:t>Outstanding without cheque</a:t>
            </a:r>
            <a:endParaRPr lang="en-US" sz="900" dirty="0"/>
          </a:p>
        </p:txBody>
      </p:sp>
      <p:sp>
        <p:nvSpPr>
          <p:cNvPr id="77" name="Rectangle 76"/>
          <p:cNvSpPr/>
          <p:nvPr/>
        </p:nvSpPr>
        <p:spPr>
          <a:xfrm>
            <a:off x="7927023" y="1693407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27023" y="2122850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2603057"/>
            <a:ext cx="276264" cy="24768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930118" y="2585916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CLAIM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185268"/>
            <a:ext cx="276264" cy="2476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30118" y="3168127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BALANCE CLAIM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927023" y="2842693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927023" y="3474456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966" y="3894330"/>
            <a:ext cx="276264" cy="24768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30118" y="3877189"/>
            <a:ext cx="379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E5A83F"/>
                </a:solidFill>
              </a:rPr>
              <a:t>EXPENSE AMOUNT</a:t>
            </a:r>
            <a:endParaRPr lang="en-US" sz="1200" dirty="0">
              <a:solidFill>
                <a:srgbClr val="E6AD4B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927023" y="4183518"/>
            <a:ext cx="2686501" cy="21771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31894" y="390338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89" name="TextBox 88">
            <a:hlinkClick r:id="rId8" action="ppaction://hlinksldjump"/>
          </p:cNvPr>
          <p:cNvSpPr txBox="1"/>
          <p:nvPr/>
        </p:nvSpPr>
        <p:spPr>
          <a:xfrm>
            <a:off x="5340283" y="392013"/>
            <a:ext cx="2382562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Commission</a:t>
            </a:r>
            <a:endParaRPr lang="en-US" sz="1050" dirty="0"/>
          </a:p>
        </p:txBody>
      </p:sp>
      <p:sp>
        <p:nvSpPr>
          <p:cNvPr id="7" name="Oval 6"/>
          <p:cNvSpPr/>
          <p:nvPr/>
        </p:nvSpPr>
        <p:spPr>
          <a:xfrm>
            <a:off x="5285543" y="341239"/>
            <a:ext cx="1124581" cy="3450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742441" y="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 smtClean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 Firm</a:t>
            </a:r>
            <a:endParaRPr lang="en-US" b="1" u="sng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405021" y="3872912"/>
            <a:ext cx="3591613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">
              <a:defRPr/>
            </a:pPr>
            <a:r>
              <a:rPr lang="en-AE" sz="800" dirty="0" smtClean="0"/>
              <a:t>Bad Debts</a:t>
            </a:r>
            <a:endParaRPr lang="en-AE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7584" y="3881339"/>
            <a:ext cx="1100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Status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2934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596" y="384785"/>
            <a:ext cx="11546977" cy="61466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238" y="875207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Marketing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2915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by Client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2553" y="875206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Search Firm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8238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Last Action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2915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From 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52553" y="1337710"/>
            <a:ext cx="3633980" cy="22375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>
                <a:solidFill>
                  <a:srgbClr val="FF0000"/>
                </a:solidFill>
              </a:rPr>
              <a:t>To Date 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582" y="1701529"/>
            <a:ext cx="251495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48" y="2054583"/>
            <a:ext cx="428685" cy="314369"/>
          </a:xfrm>
          <a:prstGeom prst="rect">
            <a:avLst/>
          </a:prstGeom>
        </p:spPr>
      </p:pic>
      <p:sp>
        <p:nvSpPr>
          <p:cNvPr id="14" name="Rectangle 13">
            <a:hlinkClick r:id="rId4" action="ppaction://hlinksldjump"/>
          </p:cNvPr>
          <p:cNvSpPr/>
          <p:nvPr/>
        </p:nvSpPr>
        <p:spPr>
          <a:xfrm>
            <a:off x="10236696" y="479036"/>
            <a:ext cx="1549837" cy="314834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+ Legal</a:t>
            </a:r>
            <a:endParaRPr lang="en-US" sz="12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43514"/>
              </p:ext>
            </p:extLst>
          </p:nvPr>
        </p:nvGraphicFramePr>
        <p:xfrm>
          <a:off x="369117" y="2552794"/>
          <a:ext cx="11417417" cy="8593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165">
                  <a:extLst>
                    <a:ext uri="{9D8B030D-6E8A-4147-A177-3AD203B41FA5}">
                      <a16:colId xmlns:a16="http://schemas.microsoft.com/office/drawing/2014/main" val="4285441399"/>
                    </a:ext>
                  </a:extLst>
                </a:gridCol>
                <a:gridCol w="562926">
                  <a:extLst>
                    <a:ext uri="{9D8B030D-6E8A-4147-A177-3AD203B41FA5}">
                      <a16:colId xmlns:a16="http://schemas.microsoft.com/office/drawing/2014/main" val="3382006933"/>
                    </a:ext>
                  </a:extLst>
                </a:gridCol>
                <a:gridCol w="1343760">
                  <a:extLst>
                    <a:ext uri="{9D8B030D-6E8A-4147-A177-3AD203B41FA5}">
                      <a16:colId xmlns:a16="http://schemas.microsoft.com/office/drawing/2014/main" val="3782997556"/>
                    </a:ext>
                  </a:extLst>
                </a:gridCol>
                <a:gridCol w="1327870">
                  <a:extLst>
                    <a:ext uri="{9D8B030D-6E8A-4147-A177-3AD203B41FA5}">
                      <a16:colId xmlns:a16="http://schemas.microsoft.com/office/drawing/2014/main" val="1869146012"/>
                    </a:ext>
                  </a:extLst>
                </a:gridCol>
                <a:gridCol w="526609">
                  <a:extLst>
                    <a:ext uri="{9D8B030D-6E8A-4147-A177-3AD203B41FA5}">
                      <a16:colId xmlns:a16="http://schemas.microsoft.com/office/drawing/2014/main" val="571090587"/>
                    </a:ext>
                  </a:extLst>
                </a:gridCol>
                <a:gridCol w="671879">
                  <a:extLst>
                    <a:ext uri="{9D8B030D-6E8A-4147-A177-3AD203B41FA5}">
                      <a16:colId xmlns:a16="http://schemas.microsoft.com/office/drawing/2014/main" val="2235552505"/>
                    </a:ext>
                  </a:extLst>
                </a:gridCol>
                <a:gridCol w="674149">
                  <a:extLst>
                    <a:ext uri="{9D8B030D-6E8A-4147-A177-3AD203B41FA5}">
                      <a16:colId xmlns:a16="http://schemas.microsoft.com/office/drawing/2014/main" val="2968242137"/>
                    </a:ext>
                  </a:extLst>
                </a:gridCol>
                <a:gridCol w="599244">
                  <a:extLst>
                    <a:ext uri="{9D8B030D-6E8A-4147-A177-3AD203B41FA5}">
                      <a16:colId xmlns:a16="http://schemas.microsoft.com/office/drawing/2014/main" val="519529169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308501141"/>
                    </a:ext>
                  </a:extLst>
                </a:gridCol>
                <a:gridCol w="581086">
                  <a:extLst>
                    <a:ext uri="{9D8B030D-6E8A-4147-A177-3AD203B41FA5}">
                      <a16:colId xmlns:a16="http://schemas.microsoft.com/office/drawing/2014/main" val="1814750936"/>
                    </a:ext>
                  </a:extLst>
                </a:gridCol>
                <a:gridCol w="2890507">
                  <a:extLst>
                    <a:ext uri="{9D8B030D-6E8A-4147-A177-3AD203B41FA5}">
                      <a16:colId xmlns:a16="http://schemas.microsoft.com/office/drawing/2014/main" val="756971166"/>
                    </a:ext>
                  </a:extLst>
                </a:gridCol>
                <a:gridCol w="1068136">
                  <a:extLst>
                    <a:ext uri="{9D8B030D-6E8A-4147-A177-3AD203B41FA5}">
                      <a16:colId xmlns:a16="http://schemas.microsoft.com/office/drawing/2014/main" val="121360734"/>
                    </a:ext>
                  </a:extLst>
                </a:gridCol>
              </a:tblGrid>
              <a:tr h="2892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Marketing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Client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Precent</a:t>
                      </a:r>
                      <a:r>
                        <a:rPr lang="en-US" sz="700" b="1" u="none" strike="noStrike" dirty="0">
                          <a:effectLst/>
                        </a:rPr>
                        <a:t> Legal Firm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Case Status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Clime Amount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Received </a:t>
                      </a:r>
                      <a:r>
                        <a:rPr lang="en-US" sz="700" b="1" u="none" strike="noStrike" dirty="0" err="1" smtClean="0">
                          <a:effectLst/>
                        </a:rPr>
                        <a:t>Cla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Balance To Clime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 err="1">
                          <a:effectLst/>
                        </a:rPr>
                        <a:t>Expence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 Date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</a:rPr>
                        <a:t>Last Action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b="1" u="none" strike="noStrike" dirty="0">
                          <a:effectLst/>
                        </a:rPr>
                        <a:t> </a:t>
                      </a: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30019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Anju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Al </a:t>
                      </a:r>
                      <a:r>
                        <a:rPr lang="en-US" sz="700" u="none" strike="noStrike" dirty="0" err="1">
                          <a:effectLst/>
                        </a:rPr>
                        <a:t>Rajhi</a:t>
                      </a:r>
                      <a:r>
                        <a:rPr lang="en-US" sz="700" u="none" strike="noStrike" dirty="0">
                          <a:effectLst/>
                        </a:rPr>
                        <a:t> Construction LLC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 smtClean="0">
                          <a:effectLst/>
                        </a:rPr>
                        <a:t>Derby Debt Collection (Debt Collection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Bad</a:t>
                      </a:r>
                      <a:r>
                        <a:rPr lang="en-US" sz="7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Debts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u="none" strike="noStrike" dirty="0">
                          <a:effectLst/>
                        </a:rPr>
                        <a:t>           833,837.50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     10,000.00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 971,212.50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700" u="none" strike="noStrike" dirty="0">
                          <a:effectLst/>
                        </a:rPr>
                        <a:t>       147,375.00 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u="none" strike="noStrike" dirty="0">
                          <a:effectLst/>
                        </a:rPr>
                        <a:t>25/05/2022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u="none" strike="noStrike" dirty="0">
                          <a:effectLst/>
                        </a:rPr>
                        <a:t>Documents Submitted to Al </a:t>
                      </a:r>
                      <a:r>
                        <a:rPr lang="en-GB" sz="700" u="none" strike="noStrike" dirty="0" err="1">
                          <a:effectLst/>
                        </a:rPr>
                        <a:t>Kabban</a:t>
                      </a:r>
                      <a:r>
                        <a:rPr lang="en-GB" sz="700" u="none" strike="noStrike" dirty="0">
                          <a:effectLst/>
                        </a:rPr>
                        <a:t> &amp; Associates for Filing case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700" u="none" strike="noStrike" dirty="0">
                          <a:effectLst/>
                        </a:rPr>
                        <a:t> 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2919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698" y="3022170"/>
            <a:ext cx="231856" cy="2113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2841" t="-3417" r="-2841" b="-6024"/>
          <a:stretch/>
        </p:blipFill>
        <p:spPr>
          <a:xfrm>
            <a:off x="11511562" y="3022170"/>
            <a:ext cx="205145" cy="2117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016" y="3028181"/>
            <a:ext cx="225926" cy="205387"/>
          </a:xfrm>
          <a:prstGeom prst="rect">
            <a:avLst/>
          </a:prstGeom>
        </p:spPr>
      </p:pic>
      <p:pic>
        <p:nvPicPr>
          <p:cNvPr id="21" name="Picture 20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1023" y="3016275"/>
            <a:ext cx="246658" cy="2172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033670" y="3016275"/>
            <a:ext cx="264620" cy="2172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4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10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12064</TotalTime>
  <Words>6461</Words>
  <Application>Microsoft Office PowerPoint</Application>
  <PresentationFormat>Widescreen</PresentationFormat>
  <Paragraphs>3162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Arial</vt:lpstr>
      <vt:lpstr>Calibri</vt:lpstr>
      <vt:lpstr>Calibri Light</vt:lpstr>
      <vt:lpstr>FontAwesome</vt:lpstr>
      <vt:lpstr>Tahoma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Ajeesh</dc:creator>
  <cp:lastModifiedBy>Muhammed Ajeesh</cp:lastModifiedBy>
  <cp:revision>188</cp:revision>
  <dcterms:created xsi:type="dcterms:W3CDTF">2023-01-21T06:45:29Z</dcterms:created>
  <dcterms:modified xsi:type="dcterms:W3CDTF">2025-01-04T07:52:22Z</dcterms:modified>
</cp:coreProperties>
</file>